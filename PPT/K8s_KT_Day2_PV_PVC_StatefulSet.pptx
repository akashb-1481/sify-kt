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F92FA-9D3C-E697-1E29-EBB6A616A8D9}" v="3" dt="2026-05-30T09:21:48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Akash" userId="S::akash.dbaskar@sifycorp.com::40b8be2a-ff89-49ab-947c-a8cb54b1d32c" providerId="AD" clId="Web-{1D1F92FA-9D3C-E697-1E29-EBB6A616A8D9}"/>
    <pc:docChg chg="modSld">
      <pc:chgData name="B Akash" userId="S::akash.dbaskar@sifycorp.com::40b8be2a-ff89-49ab-947c-a8cb54b1d32c" providerId="AD" clId="Web-{1D1F92FA-9D3C-E697-1E29-EBB6A616A8D9}" dt="2026-05-30T09:21:48.270" v="2" actId="20577"/>
      <pc:docMkLst>
        <pc:docMk/>
      </pc:docMkLst>
      <pc:sldChg chg="modSp">
        <pc:chgData name="B Akash" userId="S::akash.dbaskar@sifycorp.com::40b8be2a-ff89-49ab-947c-a8cb54b1d32c" providerId="AD" clId="Web-{1D1F92FA-9D3C-E697-1E29-EBB6A616A8D9}" dt="2026-05-30T09:21:48.270" v="2" actId="20577"/>
        <pc:sldMkLst>
          <pc:docMk/>
          <pc:sldMk cId="0" sldId="256"/>
        </pc:sldMkLst>
        <pc:spChg chg="mod">
          <ac:chgData name="B Akash" userId="S::akash.dbaskar@sifycorp.com::40b8be2a-ff89-49ab-947c-a8cb54b1d32c" providerId="AD" clId="Web-{1D1F92FA-9D3C-E697-1E29-EBB6A616A8D9}" dt="2026-05-30T09:21:48.270" v="2" actId="20577"/>
          <ac:spMkLst>
            <pc:docMk/>
            <pc:sldMk cId="0" sldId="256"/>
            <ac:spMk id="10" creationId="{00000000-0000-0000-0000-000000000000}"/>
          </ac:spMkLst>
        </pc:spChg>
      </pc:sldChg>
    </pc:docChg>
  </pc:docChgLst>
  <pc:docChgLst>
    <pc:chgData name="B Akash" userId="S::akash.dbaskar@sifycorp.com::40b8be2a-ff89-49ab-947c-a8cb54b1d32c" providerId="AD" clId="Web-{8DB78BBC-8948-1BCC-EAB6-9BA49502AFF6}"/>
    <pc:docChg chg="modSld">
      <pc:chgData name="B Akash" userId="S::akash.dbaskar@sifycorp.com::40b8be2a-ff89-49ab-947c-a8cb54b1d32c" providerId="AD" clId="Web-{8DB78BBC-8948-1BCC-EAB6-9BA49502AFF6}" dt="2026-05-19T08:40:50.902" v="57" actId="14100"/>
      <pc:docMkLst>
        <pc:docMk/>
      </pc:docMkLst>
      <pc:sldChg chg="modSp">
        <pc:chgData name="B Akash" userId="S::akash.dbaskar@sifycorp.com::40b8be2a-ff89-49ab-947c-a8cb54b1d32c" providerId="AD" clId="Web-{8DB78BBC-8948-1BCC-EAB6-9BA49502AFF6}" dt="2026-05-19T08:31:56.162" v="2" actId="14100"/>
        <pc:sldMkLst>
          <pc:docMk/>
          <pc:sldMk cId="0" sldId="256"/>
        </pc:sldMkLst>
        <pc:spChg chg="mod">
          <ac:chgData name="B Akash" userId="S::akash.dbaskar@sifycorp.com::40b8be2a-ff89-49ab-947c-a8cb54b1d32c" providerId="AD" clId="Web-{8DB78BBC-8948-1BCC-EAB6-9BA49502AFF6}" dt="2026-05-19T08:31:56.162" v="2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1:34.395" v="1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">
        <pc:chgData name="B Akash" userId="S::akash.dbaskar@sifycorp.com::40b8be2a-ff89-49ab-947c-a8cb54b1d32c" providerId="AD" clId="Web-{8DB78BBC-8948-1BCC-EAB6-9BA49502AFF6}" dt="2026-05-19T08:33:52.885" v="27" actId="14100"/>
        <pc:sldMkLst>
          <pc:docMk/>
          <pc:sldMk cId="0" sldId="259"/>
        </pc:sldMkLst>
        <pc:spChg chg="mod">
          <ac:chgData name="B Akash" userId="S::akash.dbaskar@sifycorp.com::40b8be2a-ff89-49ab-947c-a8cb54b1d32c" providerId="AD" clId="Web-{8DB78BBC-8948-1BCC-EAB6-9BA49502AFF6}" dt="2026-05-19T08:33:52.885" v="27" actId="14100"/>
          <ac:spMkLst>
            <pc:docMk/>
            <pc:sldMk cId="0" sldId="259"/>
            <ac:spMk id="8" creationId="{00000000-0000-0000-0000-000000000000}"/>
          </ac:spMkLst>
        </pc:spChg>
      </pc:sldChg>
      <pc:sldChg chg="modSp">
        <pc:chgData name="B Akash" userId="S::akash.dbaskar@sifycorp.com::40b8be2a-ff89-49ab-947c-a8cb54b1d32c" providerId="AD" clId="Web-{8DB78BBC-8948-1BCC-EAB6-9BA49502AFF6}" dt="2026-05-19T08:38:17.505" v="46" actId="1076"/>
        <pc:sldMkLst>
          <pc:docMk/>
          <pc:sldMk cId="0" sldId="260"/>
        </pc:sldMkLst>
        <pc:spChg chg="mod">
          <ac:chgData name="B Akash" userId="S::akash.dbaskar@sifycorp.com::40b8be2a-ff89-49ab-947c-a8cb54b1d32c" providerId="AD" clId="Web-{8DB78BBC-8948-1BCC-EAB6-9BA49502AFF6}" dt="2026-05-19T08:36:27.344" v="32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6:17.875" v="28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6:17.906" v="29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6:17.922" v="30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6:17.953" v="31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6:43.157" v="36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6:43.173" v="37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6:43.204" v="38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7:11.112" v="40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7:11.174" v="41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7:11.237" v="42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7:11.299" v="43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8:17.411" v="44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8:17.458" v="45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B Akash" userId="S::akash.dbaskar@sifycorp.com::40b8be2a-ff89-49ab-947c-a8cb54b1d32c" providerId="AD" clId="Web-{8DB78BBC-8948-1BCC-EAB6-9BA49502AFF6}" dt="2026-05-19T08:38:17.505" v="46" actId="1076"/>
          <ac:spMkLst>
            <pc:docMk/>
            <pc:sldMk cId="0" sldId="260"/>
            <ac:spMk id="20" creationId="{00000000-0000-0000-0000-000000000000}"/>
          </ac:spMkLst>
        </pc:spChg>
      </pc:sldChg>
      <pc:sldChg chg="modSp">
        <pc:chgData name="B Akash" userId="S::akash.dbaskar@sifycorp.com::40b8be2a-ff89-49ab-947c-a8cb54b1d32c" providerId="AD" clId="Web-{8DB78BBC-8948-1BCC-EAB6-9BA49502AFF6}" dt="2026-05-19T08:40:50.902" v="57" actId="14100"/>
        <pc:sldMkLst>
          <pc:docMk/>
          <pc:sldMk cId="0" sldId="261"/>
        </pc:sldMkLst>
        <pc:spChg chg="mod">
          <ac:chgData name="B Akash" userId="S::akash.dbaskar@sifycorp.com::40b8be2a-ff89-49ab-947c-a8cb54b1d32c" providerId="AD" clId="Web-{8DB78BBC-8948-1BCC-EAB6-9BA49502AFF6}" dt="2026-05-19T08:40:50.902" v="57" actId="14100"/>
          <ac:spMkLst>
            <pc:docMk/>
            <pc:sldMk cId="0" sldId="26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1A169-B2E4-4A2F-A698-A110F8CD5757}" type="datetimeFigureOut"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BC7B3-33E0-435D-BF7D-C66DE3FEE01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0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9D4EDD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38404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  KUBERNETES  |  KT DAY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· PVC · StorageClass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StatefulSets &amp; PostgreSQL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Storage Operators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3075" y="2735263"/>
            <a:ext cx="2728913" cy="7937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Transfer — Series 2 of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73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Date: 30 May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80" y="1005840"/>
            <a:ext cx="21031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0058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1627632"/>
            <a:ext cx="21031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6276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2249424"/>
            <a:ext cx="21031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2494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2871216"/>
            <a:ext cx="21031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87121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493008"/>
            <a:ext cx="21031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4930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4114800"/>
            <a:ext cx="21031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1148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Day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6675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99669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— Day 1 Volumes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55648"/>
            <a:ext cx="502920" cy="66751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55648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79222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PersistentVolume (PV)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51176"/>
            <a:ext cx="502920" cy="6675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51176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25877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 (PVC) &amp; Binding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46704"/>
            <a:ext cx="502920" cy="6675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46704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3832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 &amp; Dynamic Provisioning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142232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42232"/>
            <a:ext cx="502920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42232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417880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vs Deployment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60120"/>
            <a:ext cx="502920" cy="66751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60120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49240" y="99669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PostgreSQL as StatefulSet (YAML walkthrough)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0" y="1755648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F72585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755648"/>
            <a:ext cx="502920" cy="66751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755648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49240" y="179222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Data Persistence &amp; Inconsistency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2551176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90E0EF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551176"/>
            <a:ext cx="502920" cy="66751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551176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49240" y="25877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PostgreSQL Operators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54880" y="3346704"/>
            <a:ext cx="4206240" cy="667512"/>
          </a:xfrm>
          <a:prstGeom prst="rect">
            <a:avLst/>
          </a:prstGeom>
          <a:solidFill>
            <a:srgbClr val="112240"/>
          </a:solidFill>
          <a:ln w="12700">
            <a:solidFill>
              <a:srgbClr val="8ECAE6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346704"/>
            <a:ext cx="502920" cy="667512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346704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349240" y="33832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Q&amp;A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2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— Day 1 Volumes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last session — foundations for today's deep dive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97480" cy="36576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24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emptyDir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scratch space, lives &amp; dies with the Pod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9748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697480" cy="365760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24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hostPath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53619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host node's filesystem — dev/debug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9748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697480" cy="365760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24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ConfigMap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53619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config files into containers without rebuilding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269748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43200"/>
            <a:ext cx="2697480" cy="365760"/>
          </a:xfrm>
          <a:prstGeom prst="rect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70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Secret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318211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(passwords, certs) mounted as tmpfs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743200"/>
            <a:ext cx="269748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743200"/>
            <a:ext cx="2697480" cy="365760"/>
          </a:xfrm>
          <a:prstGeom prst="rect">
            <a:avLst/>
          </a:prstGeom>
          <a:solidFill>
            <a:srgbClr val="90E0EF">
              <a:alpha val="85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770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NFS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5848" y="318211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share — supports ReadWriteMany across pods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743200"/>
            <a:ext cx="269748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743200"/>
            <a:ext cx="2697480" cy="365760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770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CSI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18211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plugin interface for production storage drivers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507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takeaway: Pod-level volumes are ephemeral. For true persistence → we need PersistentVolumes, PVCs &amp; StorageClasses (today's topic!)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 (PV)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cluster-scoped storage resource provisioned by an administrator or dynamically by a StorageClass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34340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070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06157"/>
            <a:ext cx="4146550" cy="3190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Font typeface="Arial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Cluster-scoped resource — NOT tied to any namespace</a:t>
            </a:r>
            <a:endParaRPr lang="en-US" sz="1250" dirty="0">
              <a:ea typeface="Calibri" panose="020F0502020204030204"/>
              <a:cs typeface="Calibri" panose="020F0502020204030204"/>
            </a:endParaRPr>
          </a:p>
          <a:p>
            <a:pPr marL="342900" indent="-342900" algn="l">
              <a:buSzPct val="100000"/>
              <a:buFont typeface="Arial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Admin creates PV (static) or </a:t>
            </a:r>
            <a:r>
              <a:rPr lang="en-US" sz="13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StorageClass</a:t>
            </a:r>
            <a:r>
              <a:rPr lang="en-US" sz="13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creates it (dynamic)</a:t>
            </a:r>
            <a:endParaRPr lang="en-US" sz="1250" dirty="0">
              <a:latin typeface="Calibri"/>
              <a:ea typeface="Calibri"/>
              <a:cs typeface="Calibri"/>
            </a:endParaRPr>
          </a:p>
          <a:p>
            <a:pPr marL="342900" indent="-342900" algn="l">
              <a:buSzPct val="100000"/>
              <a:buFont typeface="Arial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lifecycle independent of any individual Pod</a:t>
            </a:r>
            <a:endParaRPr lang="en-US" sz="125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SzPct val="100000"/>
              <a:buFont typeface="Arial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Access 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Modes:</a:t>
            </a:r>
            <a:endParaRPr lang="en-US" sz="1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SzPct val="100000"/>
              <a:buFont typeface="Arial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          </a:t>
            </a:r>
            <a:r>
              <a:rPr lang="en-US" sz="12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ReadWriteOnce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(RWO) — single node read/write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 marL="514350" lvl="1" indent="-171450" algn="l">
              <a:buSzPct val="100000"/>
              <a:buFont typeface="Arial"/>
              <a:buChar char="•"/>
            </a:pPr>
            <a:r>
              <a:rPr lang="en-US" sz="12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ReadOnlyMany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(ROX)  — many nodes read-only</a:t>
            </a:r>
            <a:endParaRPr lang="en-US" sz="1250" dirty="0">
              <a:latin typeface="Calibri"/>
              <a:ea typeface="Calibri"/>
              <a:cs typeface="Calibri"/>
            </a:endParaRPr>
          </a:p>
          <a:p>
            <a:pPr marL="514350" lvl="1" indent="-171450" algn="l">
              <a:buSzPct val="100000"/>
              <a:buFont typeface="Arial"/>
              <a:buChar char="•"/>
            </a:pPr>
            <a:r>
              <a:rPr lang="en-US" sz="12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ReadWriteMany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(RWX) — many nodes read/write</a:t>
            </a:r>
            <a:endParaRPr lang="en-US" sz="1250" dirty="0">
              <a:latin typeface="Calibri"/>
              <a:ea typeface="Calibri"/>
              <a:cs typeface="Calibri"/>
            </a:endParaRPr>
          </a:p>
          <a:p>
            <a:pPr marL="514350" lvl="1" indent="-171450">
              <a:buSzPct val="100000"/>
              <a:buFont typeface="Arial"/>
              <a:buChar char="•"/>
            </a:pPr>
            <a:r>
              <a:rPr lang="en-US" sz="12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ReadWriteOncePod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   — single pod only </a:t>
            </a:r>
            <a:endParaRPr lang="en-US" sz="12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514350" lvl="1" indent="-171450">
              <a:buSzPct val="100000"/>
              <a:buFont typeface="Arial"/>
              <a:buChar char="•"/>
            </a:pPr>
            <a:endParaRPr lang="en-US" sz="1200" dirty="0">
              <a:solidFill>
                <a:srgbClr val="90E0EF"/>
              </a:solidFill>
              <a:latin typeface="Calibri"/>
              <a:ea typeface="Calibri"/>
              <a:cs typeface="Calibri"/>
            </a:endParaRPr>
          </a:p>
          <a:p>
            <a:pPr marL="514350" lvl="1" indent="-171450">
              <a:buSzPct val="100000"/>
              <a:buFont typeface="Arial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Reclaim 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Policies:</a:t>
            </a:r>
            <a:endParaRPr lang="en-US" sz="1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514350" lvl="1" indent="-171450">
              <a:buSzPct val="100000"/>
              <a:buFont typeface="Arial"/>
              <a:buChar char="•"/>
            </a:pPr>
            <a:r>
              <a:rPr lang="en-US" sz="120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     Retain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  — manual cleanup after PVC deleted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 marL="685800" lvl="1" indent="-342900" algn="l">
              <a:buSzPct val="100000"/>
              <a:buFont typeface="Arial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  — auto-delete PV + backend storage</a:t>
            </a:r>
            <a:endParaRPr lang="en-US" sz="1250" dirty="0">
              <a:ea typeface="Calibri" panose="020F0502020204030204"/>
              <a:cs typeface="Calibri" panose="020F0502020204030204"/>
            </a:endParaRPr>
          </a:p>
          <a:p>
            <a:pPr marL="685800" lvl="1" indent="-342900">
              <a:buSzPct val="100000"/>
              <a:buFont typeface="Arial"/>
              <a:buChar char="•"/>
            </a:pPr>
            <a:r>
              <a:rPr lang="en-US" sz="120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Recycle  — deprecated (use dynamic provision)</a:t>
            </a:r>
            <a:endParaRPr lang="en-US" sz="1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685800" lvl="1" indent="-342900" algn="l">
              <a:buSzPct val="100000"/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Status: </a:t>
            </a:r>
            <a:r>
              <a:rPr lang="en-US" sz="13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Available → Bound → Released → Failed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83480" y="1115568"/>
            <a:ext cx="379476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1887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YAML — NFS 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517904"/>
            <a:ext cx="361188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postgres-pv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nfs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 postgres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storageClassName: manual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capacity: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storage: 5Gi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ReadWriteOnce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persistentVolumeReclaimPolicy: Retain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nfs: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192.168.1.100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/exports/postgres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PV status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kubectl get pv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          CAPACITY  ACCESS MODES  STATUS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postgres-pv   5Gi       RWO           Available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Describe for full details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kubectl describe pv postgres-pv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2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 (PVC)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9263" y="89490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namespace-scoped request for storage — users claim storage without knowing the backend details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7823" y="1103503"/>
            <a:ext cx="1965960" cy="749808"/>
          </a:xfrm>
          <a:prstGeom prst="rect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823" y="1140079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creates PVC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7823" y="1542415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2Gi RWO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23783" y="1222375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06663" y="1087628"/>
            <a:ext cx="1965960" cy="749808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6663" y="112420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finds matching PV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06663" y="15265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≥ 2Gi, RWO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285875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1111441"/>
            <a:ext cx="1965960" cy="749808"/>
          </a:xfrm>
          <a:prstGeom prst="rect">
            <a:avLst/>
          </a:prstGeom>
          <a:solidFill>
            <a:srgbClr val="06D6A0">
              <a:alpha val="9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48017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PV/PVC Binding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63440" y="1550353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PV.status = Bound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114300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04343" y="1119378"/>
            <a:ext cx="1965960" cy="749808"/>
          </a:xfrm>
          <a:prstGeom prst="rect">
            <a:avLst/>
          </a:prstGeom>
          <a:solidFill>
            <a:srgbClr val="FF6B35">
              <a:alpha val="9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4343" y="115595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uses PVC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04343" y="155829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volumeClaimName: ...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938528"/>
            <a:ext cx="4389120" cy="2834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0299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Key Points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2404872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Namespace-scoped — belongs to a specific namespace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references PVC by name — not the backend PV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specifies: storageClassName, accessMode, size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PVC binds to exactly ONE PV at a time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deleted → PV reclaim policy kicks in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PVC supported if StorageClass allows 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983480" y="1938528"/>
            <a:ext cx="3794760" cy="28346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0116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+ Pod YAML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2286000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PersistentVolumeClaim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postgres-pvc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storageClassName: manual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ReadWriteOnce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storage: 2Gi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Reference PVC in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postgres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/var/lib/postgresql/data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pgdata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pgdata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persistentVolumeClaim: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claimName: postgres-pvc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2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 &amp; Dynamic Provisioning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PV creation on demand — no admin intervention needed per PVC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389120" cy="3703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04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 Concepts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35418"/>
            <a:ext cx="4114800" cy="326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storage should be provisioned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fields: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         provisioner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 — the driver creating the PV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parameters   — backend-specific (type, zone, </a:t>
            </a:r>
            <a:r>
              <a:rPr lang="en-US" sz="12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iops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12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reclaimPolicy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— Delete or Retain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12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volumeBindingMode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— Immediate or </a:t>
            </a:r>
            <a:r>
              <a:rPr lang="en-US" sz="12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WaitForFirstConsumer</a:t>
            </a:r>
            <a:endParaRPr lang="en-US" sz="1200" dirty="0" err="1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20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allowVolumeExpansion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— true/false</a:t>
            </a:r>
            <a:endParaRPr lang="en-US" sz="12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Default </a:t>
            </a:r>
            <a:r>
              <a:rPr lang="en-US" sz="13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StorageClass</a:t>
            </a:r>
            <a:r>
              <a:rPr lang="en-US" sz="13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used when PVC has no </a:t>
            </a:r>
            <a:r>
              <a:rPr lang="en-US" sz="13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storageClassName</a:t>
            </a:r>
            <a:endParaRPr lang="en-US" sz="1200" err="1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Dynamic 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flow: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           PVC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created → SC finds provisioner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Provisioner creates PV + backend disk</a:t>
            </a:r>
            <a:endParaRPr lang="en-US" sz="12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PV auto-bound to </a:t>
            </a:r>
            <a:r>
              <a:rPr lang="en-US" sz="120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PVC</a:t>
            </a:r>
            <a:endParaRPr lang="en-US" sz="12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685800" lvl="1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Static vs Dynamic </a:t>
            </a:r>
            <a:r>
              <a:rPr lang="en-US" sz="13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provisioning:v</a:t>
            </a:r>
            <a:endParaRPr lang="en-US" sz="12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120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Static  — admin </a:t>
            </a:r>
            <a:r>
              <a:rPr lang="en-US" sz="12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pre-creates PVs manually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SC auto-creates PV when PVC appears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480" y="1078992"/>
            <a:ext cx="3794760" cy="3703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1521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 YAML Examples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481328"/>
            <a:ext cx="36118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 / Minikube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storage.k8s.io/v1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StorageClass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standard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storageclass.kubernetes.io/is-default-class: "true"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provisioner: docker.io/hostpath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reclaimPolicy: Delete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volumeBindingMode: Immediate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AWS EBS (production)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storage.k8s.io/v1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StorageClass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gp3-encrypted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provisioner: ebs.csi.aws.com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reclaimPolicy: Retain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allowVolumeExpansion: true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volumeBindingMode: WaitForFirstConsumer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gp3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iops: "3000"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throughput: "125"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encrypted: "true"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all storage classes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kubectl get storageclass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kubectl get sc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2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vs Deployment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controller based on your workload's statefulness requirements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194560" cy="384048"/>
          </a:xfrm>
          <a:prstGeom prst="rect">
            <a:avLst/>
          </a:prstGeom>
          <a:solidFill>
            <a:srgbClr val="11224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3017520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05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005840"/>
            <a:ext cx="3017520" cy="384048"/>
          </a:xfrm>
          <a:prstGeom prst="rect">
            <a:avLst/>
          </a:prstGeom>
          <a:solidFill>
            <a:srgbClr val="9D4E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005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389888"/>
            <a:ext cx="219456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408176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names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0" y="1389888"/>
            <a:ext cx="301752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1408176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(app-7d9xk)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77840" y="1389888"/>
            <a:ext cx="301752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1408176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(app-0, app-1, app-2)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1865376"/>
            <a:ext cx="219456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883664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identity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60320" y="1865376"/>
            <a:ext cx="301752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883664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77840" y="1865376"/>
            <a:ext cx="301752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1883664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&amp; stable per pod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2340864"/>
            <a:ext cx="219456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359152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order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0" y="2340864"/>
            <a:ext cx="301752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235915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 once (parallel)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77840" y="2340864"/>
            <a:ext cx="301752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235915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(0 → 1 → 2)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2816352"/>
            <a:ext cx="219456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83464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560320" y="2816352"/>
            <a:ext cx="301752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2834640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PVC or none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577840" y="2816352"/>
            <a:ext cx="301752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2834640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PVC per pod (via volumeClaimTemplates)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3291840"/>
            <a:ext cx="219456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310128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headless svc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560320" y="3291840"/>
            <a:ext cx="301752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33472" y="3310128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577840" y="3291840"/>
            <a:ext cx="301752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3310128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app-0.svc, app-1.svc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65760" y="3767328"/>
            <a:ext cx="219456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3785616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560320" y="3767328"/>
            <a:ext cx="301752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33472" y="3785616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any order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577840" y="3767328"/>
            <a:ext cx="301752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3785616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scale-up &amp; scale-down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65760" y="4242816"/>
            <a:ext cx="219456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4261104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560320" y="4242816"/>
            <a:ext cx="301752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33472" y="4261104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(web, API)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577840" y="4242816"/>
            <a:ext cx="3017520" cy="4754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4261104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(DB, Kafka, Redis cluster)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65760" y="4718304"/>
            <a:ext cx="219456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736592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560320" y="4718304"/>
            <a:ext cx="301752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33472" y="473659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pods in parallel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577840" y="4718304"/>
            <a:ext cx="3017520" cy="47548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50992" y="473659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 a time (highest ordinal first)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4773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PostgreSQL needs StatefulSet — each replica needs its own stable identity and dedicated storage volume!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PostgreSQL StatefulSet — Step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· Secret · Headless Service — the foundation before the StatefulSet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2423160" cy="3703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Steps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4747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020824"/>
            <a:ext cx="347472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048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(password)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532888"/>
            <a:ext cx="347472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560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Service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044952"/>
            <a:ext cx="347472" cy="34747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30723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557016"/>
            <a:ext cx="347472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584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069080"/>
            <a:ext cx="347472" cy="34747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0965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Test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17520" y="1024128"/>
            <a:ext cx="5760720" cy="3703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10972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— Namespace + Secret + Service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0" y="1444752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Namespace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Namespace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postgres-demo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Secret for postgres password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Secret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postgres-secret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postgres-demo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Opaque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echo -n 'postgrespass' | base64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POSTGRES_PASSWORD: cG9zdGdyZXNwYXNz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POSTGRES_USER: cG9zdGdyZXM=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Headless Service (required for StatefulSet DNS)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Service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postgres-headless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postgres-demo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clusterIP: None          # &lt;-- makes it headless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 postgres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port: 5432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targetPort: 5432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postgres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2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PostgreSQL StatefulSet — Step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StatefulSet + volumeClaimTemplates — gives each replica its own persistent volume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5074920" cy="38862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489204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StatefulSet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postgres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postgres-demo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serviceName: postgres-headless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postgres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postgres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postgres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image: postgres:16-alpine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containerPort: 5432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envFrom: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secretRef: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name: postgres-secret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pgdata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mountPath: /var/lib/postgresql/data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volumeClaimTemplates:     # &lt;-- KEY DIFFERENCE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pgdata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accessModes: [ReadWriteOnce]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storageClassName: standard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resources: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storage: 1Gi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23560" y="1024128"/>
            <a:ext cx="3154680" cy="3886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11155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YAML Highlights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0" y="1508760"/>
            <a:ext cx="2880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serviceName links to headless service for pod DNS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1 for dev (scale to 3 for HA)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volumeClaimTemplates creates one PVC per pod replica: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postgres-0 → pgdata-postgres-0</a:t>
            </a:r>
            <a:endParaRPr lang="en-US" sz="1200" dirty="0"/>
          </a:p>
          <a:p>
            <a:pPr marL="685800" lvl="1" indent="-342900" algn="l"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postgres-1 → pgdata-postgres-1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storageClassName: standard uses minikube default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DNS: postgres-0.postgres-headless.postgres-demo.svc.cluster.local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Apply: kubectl apply -f postgres-sts.yaml -n postgres-demo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2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Data Persistence with PVC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data survives pod deletion when backed by a PersistentVolumeClaim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502920" cy="114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1521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Data to PostgreSQL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postgres-0 -n postgres-demo --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psql -U postgres -c "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 TABLE kt_demo 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SERIAL PRIMARY KEY,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 TEXT,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ts  TIMESTAMPTZ DEFAULT now()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kt_demo(msg)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('KT Day 2 - data persistence test');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 FROM kt_demo;"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77440"/>
            <a:ext cx="502920" cy="1143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774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4140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Pod (simulate crash)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724912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 pod — StatefulSet recreates it automatically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pod postgres-0 -n postgres-demo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Watch the pod restart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postgres-demo -w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StatefulSet ensures postgres-0 comes back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the SAME PVC attached!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639312"/>
            <a:ext cx="841248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39312"/>
            <a:ext cx="502920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39312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6758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Survives! Verify after restart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986784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Wait for pod to be Running again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wait pod/postgres-0 -n postgres-demo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--for=condition=Ready --timeout=60s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Query the table — data is still there!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postgres-0 -n postgres-demo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psql -U postgres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-c "SELECT * FROM kt_demo;"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 output: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 | msg                              | ts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---+----------------------------------+---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1 | KT Day 2 - data persistence test | ...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2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Data Loss WITHOUT Volumes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what happens when you use a plain Deployment with no PVC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60520" cy="3703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4160520" cy="365760"/>
          </a:xfrm>
          <a:prstGeom prst="rect">
            <a:avLst/>
          </a:prstGeom>
          <a:solidFill>
            <a:srgbClr val="F72585">
              <a:alpha val="85000"/>
            </a:srgbClr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Deployment — No PVC (BAD)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" y="1508760"/>
            <a:ext cx="3931920" cy="14630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postgres-no-pvc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postgres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image: postgres:16-alpine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NO volumeMounts!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NO volumes!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3886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data → delete pod → pod recreated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New pod gets a fresh container filesystem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GONE — tables, rows, everything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default for Deployments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would also lose data on pod delete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023360" cy="3703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78992"/>
            <a:ext cx="4023360" cy="365760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155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StatefulSet + PVC (GOOD)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64608" y="1508760"/>
            <a:ext cx="3794760" cy="14630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5544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postgres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/var/lib/postgresql/data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pgdata     # backed by PVC!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volumeClaimTemplates: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pgdata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accessModes: [ReadWriteOnce]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resources: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storage: 1Gi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3035808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data → delete pod → pod recreated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Same PVC is re-attached automatically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survives — tables, rows intact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name stays postgres-0 (stable identity)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lifecycle is independent of the Pod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2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PostgreSQL Operators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operators automate HA, failover, backups &amp; upgrades beyond raw StatefulSets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697480" cy="3749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2697480" cy="475488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CloudNativePG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3624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Sandbox Project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Maintained by EDB — production ready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Primary/replica streaming replication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failover &amp; switchover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WAL archiving to S3, Azure Blob, GCS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connection pooling (PgBouncer)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Install: kubectl apply -f cnpg-crds.yaml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078992"/>
            <a:ext cx="2697480" cy="3749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78992"/>
            <a:ext cx="2697480" cy="475488"/>
          </a:xfrm>
          <a:prstGeom prst="rect">
            <a:avLst/>
          </a:prstGeom>
          <a:solidFill>
            <a:srgbClr val="9D4EDD">
              <a:alpha val="90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097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Crunchy PGO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37560" y="13624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Crunchy Data — Open Source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1627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 Operator by Crunchy Data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1901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pgBackRest for backup &amp; PITR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 pooling via pgBouncer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37560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 with Postgres Exporter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configurable via CRDs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29992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Install: kubectl apply -k pgo/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1078992"/>
            <a:ext cx="2697480" cy="3749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078992"/>
            <a:ext cx="2697480" cy="475488"/>
          </a:xfrm>
          <a:prstGeom prst="rect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097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Zalando Postgres Operator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17920" y="13624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Zalando SE — Open Source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1627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Battle-tested at Zalando scale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1901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Patroni-based HA clustering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Spilo Docker image under the hood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Team-based access control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Logical backup to S3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29992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Install: helm install postgres-operator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773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Recommendation: CloudNativePG for new projects (CNCF-backed, active community, excellent docs at cloudnative-pg.io)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Summary + What's Next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53035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106070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is a cluster-scoped storage resource; PVC is a namespace-scoped claim that binds to a PV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54864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27632"/>
            <a:ext cx="109728" cy="53035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168249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 enables dynamic provisioning — no more manual PV creation per request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49424"/>
            <a:ext cx="54864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49424"/>
            <a:ext cx="109728" cy="53035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23042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gives pods stable identities, ordered startup &amp; dedicated PVCs via volumeClaimTemplates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54864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71216"/>
            <a:ext cx="109728" cy="53035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5568" y="29260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deployed as StatefulSet with PVC ensures data survives pod crashes and reschedules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493008"/>
            <a:ext cx="54864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93008"/>
            <a:ext cx="109728" cy="53035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15568" y="354787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PVC: container filesystem is ephemeral — data loss on any pod restart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548640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14800"/>
            <a:ext cx="109728" cy="53035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15568" y="416966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use CloudNativePG / Crunchy PGO / Zalando for HA, backups &amp; auto-failover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80760" y="1005840"/>
            <a:ext cx="2697480" cy="3886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005840"/>
            <a:ext cx="2697480" cy="411480"/>
          </a:xfrm>
          <a:prstGeom prst="rect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0424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Day 3 Preview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172200" y="1481328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architecture &amp; scraping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 &amp; alerting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 Helm deploy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K8s + PostgreSQL metrics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rules &amp; PagerDuty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walkthrough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73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Q&amp;A  |  Full YAML files: git.internal/k8s-kt-series/day2-postgres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Storage KT — Day 2</dc:title>
  <dc:subject>PptxGenJS Presentation</dc:subject>
  <dc:creator>PptxGenJS</dc:creator>
  <cp:lastModifiedBy>PptxGenJS</cp:lastModifiedBy>
  <cp:revision>25</cp:revision>
  <dcterms:created xsi:type="dcterms:W3CDTF">2026-05-13T19:00:23Z</dcterms:created>
  <dcterms:modified xsi:type="dcterms:W3CDTF">2026-05-30T09:21:56Z</dcterms:modified>
</cp:coreProperties>
</file>