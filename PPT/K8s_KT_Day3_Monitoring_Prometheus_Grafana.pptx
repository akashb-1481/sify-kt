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261C1-C883-2B92-E4CC-947AFF23C76D}" v="4" dt="2026-05-30T09:21:5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Akash" userId="S::akash.dbaskar@sifycorp.com::40b8be2a-ff89-49ab-947c-a8cb54b1d32c" providerId="AD" clId="Web-{5FB261C1-C883-2B92-E4CC-947AFF23C76D}"/>
    <pc:docChg chg="modSld">
      <pc:chgData name="B Akash" userId="S::akash.dbaskar@sifycorp.com::40b8be2a-ff89-49ab-947c-a8cb54b1d32c" providerId="AD" clId="Web-{5FB261C1-C883-2B92-E4CC-947AFF23C76D}" dt="2026-05-30T09:21:54.484" v="3" actId="20577"/>
      <pc:docMkLst>
        <pc:docMk/>
      </pc:docMkLst>
      <pc:sldChg chg="modSp">
        <pc:chgData name="B Akash" userId="S::akash.dbaskar@sifycorp.com::40b8be2a-ff89-49ab-947c-a8cb54b1d32c" providerId="AD" clId="Web-{5FB261C1-C883-2B92-E4CC-947AFF23C76D}" dt="2026-05-30T09:21:54.484" v="3" actId="20577"/>
        <pc:sldMkLst>
          <pc:docMk/>
          <pc:sldMk cId="0" sldId="256"/>
        </pc:sldMkLst>
        <pc:spChg chg="mod">
          <ac:chgData name="B Akash" userId="S::akash.dbaskar@sifycorp.com::40b8be2a-ff89-49ab-947c-a8cb54b1d32c" providerId="AD" clId="Web-{5FB261C1-C883-2B92-E4CC-947AFF23C76D}" dt="2026-05-30T09:21:54.484" v="3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D7BBC-DEB3-4E57-930F-FE95A41FA288}" type="datetimeFigureOut"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5078F-AE18-40F5-8B01-517ECCF4FC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0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22C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6522C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KUBERNETES  |  KT DAY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Alerting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365760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Transfer — Series 3 of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Date: 30 May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0" y="1005840"/>
            <a:ext cx="22860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05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1627632"/>
            <a:ext cx="22860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276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2249424"/>
            <a:ext cx="22860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494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2871216"/>
            <a:ext cx="22860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712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493008"/>
            <a:ext cx="22860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4930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kube-state-metrics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114800"/>
            <a:ext cx="22860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1148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Exporter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Day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6675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9966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Monitoring? — Observability Pillars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55648"/>
            <a:ext cx="502920" cy="667512"/>
          </a:xfrm>
          <a:prstGeom prst="rect">
            <a:avLst/>
          </a:prstGeom>
          <a:solidFill>
            <a:srgbClr val="E6522C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922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Architecture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4680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51176"/>
            <a:ext cx="502920" cy="667512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5117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Architecture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46704"/>
            <a:ext cx="502920" cy="66751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 Overview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42232"/>
            <a:ext cx="502920" cy="6675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42232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17880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Walkthrough — Helm Install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02920" cy="6675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6012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9966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Kubernetes + PostgreSQL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1755648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755648"/>
            <a:ext cx="502920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5564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49240" y="17922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Walkthrough (Prometheus + Grafana)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2551176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72585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551176"/>
            <a:ext cx="502920" cy="66751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55117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25877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Setup — Rules &amp; Alertmanager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54880" y="3346704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8ECAE6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46704"/>
            <a:ext cx="502920" cy="667512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34670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4924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Wrap-Up + Next Steps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Monitoring? — The 3 Pillars of Observability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26974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2697480" cy="548640"/>
          </a:xfrm>
          <a:prstGeom prst="rect">
            <a:avLst/>
          </a:prstGeom>
          <a:solidFill>
            <a:srgbClr val="E6522C">
              <a:alpha val="90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Metrics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measurements over time. Answer: Is the system healthy? How many requests/sec? What is CPU usage?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5237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Prometheus · InfluxDB · Datadog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7980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0175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%, Memory usage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323697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rate (RPS)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4564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rate, Latency (p99)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675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 restarts, PVC usage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024128"/>
            <a:ext cx="26974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24128"/>
            <a:ext cx="2697480" cy="548640"/>
          </a:xfrm>
          <a:prstGeom prst="rect">
            <a:avLst/>
          </a:prstGeom>
          <a:solidFill>
            <a:srgbClr val="06D6A0">
              <a:alpha val="9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6070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55848" y="16459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text events from applications. Answer: What exactly happened and when? Debug errors &amp; traces.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5237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Loki · Elasticsearch · Fluentd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7980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0175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error messages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5848" y="323697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query logs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34564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 events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3675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/ access logs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024128"/>
            <a:ext cx="26974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24128"/>
            <a:ext cx="2697480" cy="548640"/>
          </a:xfrm>
          <a:prstGeom prst="rect">
            <a:avLst/>
          </a:prstGeom>
          <a:solidFill>
            <a:srgbClr val="9D4EDD">
              <a:alpha val="9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06070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Traces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208" y="16459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 across microservices. Answer: Where did the latency come from in a distributed call?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5237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Jaeger · Zipkin · Tempo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27980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30175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→ DB call spans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36208" y="323697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Service-to-service latency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36208" y="34564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Distributed call graphs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36208" y="3675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 of slowness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Today's focus: Metrics (Prometheus) + Dashboards (Grafana) — the foundation of K8s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22C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920240" cy="658368"/>
          </a:xfrm>
          <a:prstGeom prst="rect">
            <a:avLst/>
          </a:prstGeom>
          <a:solidFill>
            <a:srgbClr val="06D6A0">
              <a:alpha val="8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59017"/>
            <a:ext cx="17373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Pods · Nodes · Services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920240" cy="658368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48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27697"/>
            <a:ext cx="17373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 · DNS · File-based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1508760"/>
            <a:ext cx="2377440" cy="1280160"/>
          </a:xfrm>
          <a:prstGeom prst="rect">
            <a:avLst/>
          </a:prstGeom>
          <a:solidFill>
            <a:srgbClr val="E6522C">
              <a:alpha val="85000"/>
            </a:srgbClr>
          </a:solidFill>
          <a:ln w="19050">
            <a:solidFill>
              <a:srgbClr val="E65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4533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Server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97480" y="2123237"/>
            <a:ext cx="219456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+ TSDB + Rule Engine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1143000"/>
            <a:ext cx="2606040" cy="658368"/>
          </a:xfrm>
          <a:prstGeom prst="rect">
            <a:avLst/>
          </a:prstGeom>
          <a:solidFill>
            <a:srgbClr val="F72585">
              <a:alpha val="85000"/>
            </a:srgbClr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1795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49240" y="1459017"/>
            <a:ext cx="24231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· Silence · Inhibit → PagerDuty / Slack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2011680"/>
            <a:ext cx="2606040" cy="658368"/>
          </a:xfrm>
          <a:prstGeom prst="rect">
            <a:avLst/>
          </a:prstGeom>
          <a:solidFill>
            <a:srgbClr val="F46800">
              <a:alpha val="85000"/>
            </a:srgbClr>
          </a:solidFill>
          <a:ln w="19050">
            <a:solidFill>
              <a:srgbClr val="F46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/ PromQL UI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49240" y="2327697"/>
            <a:ext cx="24231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Visualize · Dashboard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1920240" cy="658368"/>
          </a:xfrm>
          <a:prstGeom prst="rect">
            <a:avLst/>
          </a:prstGeom>
          <a:solidFill>
            <a:srgbClr val="8ECAE6">
              <a:alpha val="85000"/>
            </a:srgbClr>
          </a:solidFill>
          <a:ln w="19050">
            <a:solidFill>
              <a:srgbClr val="8EC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16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196377"/>
            <a:ext cx="17373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 push metrics here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06040" y="3017520"/>
            <a:ext cx="2377440" cy="658368"/>
          </a:xfrm>
          <a:prstGeom prst="rect">
            <a:avLst/>
          </a:prstGeom>
          <a:solidFill>
            <a:srgbClr val="FFD166">
              <a:alpha val="8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054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TSDB (Storage)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97480" y="3333537"/>
            <a:ext cx="21945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default local retention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04288" y="1481328"/>
            <a:ext cx="30175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04288" y="2331720"/>
            <a:ext cx="30175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1481328"/>
            <a:ext cx="2743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2331720"/>
            <a:ext cx="2743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04288" y="3337560"/>
            <a:ext cx="30175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2788920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49040"/>
            <a:ext cx="8412480" cy="102412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— Prometheus Query Language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CPU usage per pod                              # Request rate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rate(container_cpu_usage_seconds_total[5m])      rate(http_requests_total[5m])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                                         # K8s pod restarts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container_memory_working_set_bytes / 1024^3      kube_pod_container_status_restarts_total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analytics &amp; interactive visualization platform — the UI layer over Prometheus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— connect to Prometheus, Loki, InfluxDB, MySQL…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— JSON-defined collections of panels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— individual visualizations (time series, gauge, table, heatmap, stat)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— threshold-based rules, notify via Slack / email / PagerDuty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ad-hoc PromQL / LogQL query interface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— dashboards &amp; datasources as code (GitOps)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— extend with community panels &amp; datasources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Org / Team / Folder based access control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02336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170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Component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19472" y="1572768"/>
            <a:ext cx="3657600" cy="402336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609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User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9751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9472" y="2084832"/>
            <a:ext cx="3657600" cy="402336"/>
          </a:xfrm>
          <a:prstGeom prst="rect">
            <a:avLst/>
          </a:prstGeom>
          <a:solidFill>
            <a:srgbClr val="F46800">
              <a:alpha val="85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2121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Frontend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4871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9472" y="2596896"/>
            <a:ext cx="3657600" cy="402336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9992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9472" y="3108960"/>
            <a:ext cx="3657600" cy="402336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145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Proxy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51129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3621024"/>
            <a:ext cx="3657600" cy="402336"/>
          </a:xfrm>
          <a:prstGeom prst="rect">
            <a:avLst/>
          </a:prstGeom>
          <a:solidFill>
            <a:srgbClr val="E6522C">
              <a:alpha val="85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36576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Loki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 — What's Inside?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Helm chart that deploys the entire monitoring stack for Kubernetes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029968" cy="438912"/>
          </a:xfrm>
          <a:prstGeom prst="rect">
            <a:avLst/>
          </a:prstGeom>
          <a:solidFill>
            <a:srgbClr val="E6522C">
              <a:alpha val="85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Prometheus Operator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Prometheus &amp; Alertmanager via CRDs (ServiceMonitor, PrometheusRule)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111556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E6522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115568"/>
            <a:ext cx="2029968" cy="438912"/>
          </a:xfrm>
          <a:prstGeom prst="rect">
            <a:avLst/>
          </a:prstGeom>
          <a:solidFill>
            <a:srgbClr val="E6522C">
              <a:alpha val="85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1612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Prometheus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161848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collection engine — scrapes, stores &amp; evaluates rules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111556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F7258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115568"/>
            <a:ext cx="2029968" cy="438912"/>
          </a:xfrm>
          <a:prstGeom prst="rect">
            <a:avLst/>
          </a:prstGeom>
          <a:solidFill>
            <a:srgbClr val="F72585">
              <a:alpha val="85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1612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Alertmanager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61848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alerts to Slack, PagerDuty, email based on routing rules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4576" y="111556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F468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94576" y="1115568"/>
            <a:ext cx="2029968" cy="438912"/>
          </a:xfrm>
          <a:prstGeom prst="rect">
            <a:avLst/>
          </a:prstGeom>
          <a:solidFill>
            <a:srgbClr val="F46800">
              <a:alpha val="85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11612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Grafana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86016" y="161848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with 30+ Kubernetes dashboards out of the box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0720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07208"/>
            <a:ext cx="2029968" cy="438912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529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Node Exporter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31012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DaemonSet — exports host-level metrics (CPU, disk, network)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42032" y="280720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42032" y="2807208"/>
            <a:ext cx="2029968" cy="43891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8529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kube-state-metrics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33472" y="331012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K8s object state (deployments, pods, nodes, PVCs)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18304" y="280720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18304" y="2807208"/>
            <a:ext cx="2029968" cy="438912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8529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Prometheus Adapter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9744" y="331012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Prometheus metrics to K8s HPA custom metrics API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94576" y="2807208"/>
            <a:ext cx="2029968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90E0E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94576" y="2807208"/>
            <a:ext cx="2029968" cy="438912"/>
          </a:xfrm>
          <a:prstGeom prst="rect">
            <a:avLst/>
          </a:prstGeom>
          <a:solidFill>
            <a:srgbClr val="90E0EF">
              <a:alpha val="85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86016" y="28529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ServiceMonitor CRD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86016" y="331012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Declaratively tell Prometheus which services/pods to scrape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kube-prometheus-stack via Helm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stack deployed in under 5 minutes using Helm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43891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438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07899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Helm Repo &amp; Create Namespace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408176"/>
            <a:ext cx="3538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Prometheus community Helm repo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prometheus-community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https://prometheus-community.github.io/helm-charts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update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monitoring namespace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namespace monitoring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24128"/>
            <a:ext cx="438912" cy="1828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24128"/>
            <a:ext cx="438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9512" y="107899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values.yaml for customization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9512" y="1408176"/>
            <a:ext cx="3538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values.yaml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adminPassword: "changeme123"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persistence: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true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storageClassName: standard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size: 5Gi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prometheusSpec: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retention: 30d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storageSpec: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volumeClaimTemplate: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spec: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storageClassName: standard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resources: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requests: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storage: 20Gi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90088"/>
            <a:ext cx="438912" cy="1828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0088"/>
            <a:ext cx="438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30449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Chart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" y="3374136"/>
            <a:ext cx="3538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kube-prom-stack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prometheus-community/kube-prometheus-stack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--namespace monitoring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values.yaml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all pods are running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monitoring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Grafana UI (port-forward)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svc/kube-prom-stack-grafana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3000:80 -n monitoring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Open: http://localhost:3000  admin/changeme123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709160" y="2990088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990088"/>
            <a:ext cx="438912" cy="18288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90088"/>
            <a:ext cx="438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9512" y="30449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Access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39512" y="3374136"/>
            <a:ext cx="3538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Prometheus UI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svc/kube-prom-stack-kube-prome-prometheus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9090:9090 -n monitoring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Open: http://localhost:9090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Alertmanager UI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svc/kube-prom-stack-alertmanager \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9093:9093 -n monitoring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to Monitor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in Kubernetes + PostgreSQL — the essential signals for on-call engineers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20624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206240" cy="41148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Kubernetes Metrics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416966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93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Throttling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1609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rate(container_cpu_throttled_seconds_total[5m])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0" y="162763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020824"/>
            <a:ext cx="4169664" cy="420624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Pressure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container_memory_working_set_bytes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20756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limit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468880"/>
            <a:ext cx="416966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505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kube_pod_container_status_restarts_total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0" y="25237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in 5m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916936"/>
            <a:ext cx="4169664" cy="420624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535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Not Ready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65960" y="2953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kube_pod_status_ready{condition='false'}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0" y="297180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364992"/>
            <a:ext cx="416966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01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Disk Pressure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65960" y="3401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kube_node_status_condition{condition='DiskPressure'}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0" y="3419856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813048"/>
            <a:ext cx="4169664" cy="420624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Bound Status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965960" y="38496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kube_persistentvolumeclaim_status_phase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0" y="386791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Bound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4261104"/>
            <a:ext cx="416966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97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CPU &gt; 80%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65960" y="4297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avg(rate(node_cpu_seconds_total{mode='idle'}[5m]))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0" y="431596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078992"/>
            <a:ext cx="402336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078992"/>
            <a:ext cx="4023360" cy="411480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 Metrics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73168" y="1572768"/>
            <a:ext cx="398678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6093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Connections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45936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pg_stat_activity_count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936992" y="162763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max_conn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2020824"/>
            <a:ext cx="3986784" cy="420624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057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Transactions/sec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45936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rate(pg_stat_database_xact_commit[5m])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936992" y="207568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73168" y="2468880"/>
            <a:ext cx="398678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Ratio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45936" y="25054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pg_stat_database_blks_hit 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(blks_hit+blks_read)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936992" y="252374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99%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73168" y="2916936"/>
            <a:ext cx="3986784" cy="420624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29535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45936" y="2953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pg_replication_slots_lag_bytes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936992" y="297180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100MB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73168" y="3364992"/>
            <a:ext cx="398678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401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345936" y="34015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rate(pg_stat_database_deadlocks[5m])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936992" y="341985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73168" y="3813048"/>
            <a:ext cx="3986784" cy="420624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 / Autovacuum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345936" y="38496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pg_stat_user_tables_n_dead_tup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936992" y="386791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73168" y="4261104"/>
            <a:ext cx="3986784" cy="420624"/>
          </a:xfrm>
          <a:prstGeom prst="rect">
            <a:avLst/>
          </a:prstGeom>
          <a:solidFill>
            <a:srgbClr val="0F1E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92040" y="4297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Size Growth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345936" y="4297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pg_database_size_bytes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936992" y="43159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daily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22C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UI Walkthrough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http://localhost:9090  (after port-forward)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60520" cy="17190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160520" cy="365760"/>
          </a:xfrm>
          <a:prstGeom prst="rect">
            <a:avLst/>
          </a:prstGeom>
          <a:solidFill>
            <a:srgbClr val="E6522C">
              <a:alpha val="85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24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Graph / Expression Browser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PromQL expressions — instant or range queries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8379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view shows current values per label set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view plots time-series — zoom, range selector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4780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Try: up  →  shows all scrape targets that are alive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160520" cy="17190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78992"/>
            <a:ext cx="4160520" cy="36576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24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Status → Targets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5179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ALL scrape endpoints and their health status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8379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 = UP   Red = DOWN   Unknown = not scraped yet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1579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last scrape time, error messages if any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4780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 missing metrics here first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907792"/>
            <a:ext cx="4160520" cy="17190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07792"/>
            <a:ext cx="4160520" cy="36576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Status → Service Discovery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all discovered targets from K8s API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36667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Explains which labels are kept vs dropped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39867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Helps debug relabeling rules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2907792"/>
            <a:ext cx="4160520" cy="17190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07792"/>
            <a:ext cx="4160520" cy="365760"/>
          </a:xfrm>
          <a:prstGeom prst="rect">
            <a:avLst/>
          </a:prstGeom>
          <a:solidFill>
            <a:srgbClr val="F72585">
              <a:alpha val="85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Alerts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346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all configured alert rules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36667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States: Inactive / Pending / Firing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39867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Pending: condition met but not yet sustained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43068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Firing: alert sent to Alertmanager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UI Walkthrough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http://localhost:3000  admin / changeme123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974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2697480" cy="384048"/>
          </a:xfrm>
          <a:prstGeom prst="rect">
            <a:avLst/>
          </a:prstGeom>
          <a:solidFill>
            <a:srgbClr val="F46800">
              <a:alpha val="85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 → Dashboards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5361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☰ → Dashboards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pre-loaded K8s dashboards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1214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'Kubernetes / Compute Resources'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4140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namespace / workload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78992"/>
            <a:ext cx="26974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78992"/>
            <a:ext cx="2697480" cy="384048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24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Key Built-in Dashboards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55848" y="15361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Cluster (Global view)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1828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Nodes (CPU / Mem / Disk per node)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1214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Pods (per-namespace breakdown)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24140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(via Postgres Exporter)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078992"/>
            <a:ext cx="26974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78992"/>
            <a:ext cx="2697480" cy="38404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124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Explore (Ad-hoc queries)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36208" y="15361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compass icon → Explore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6208" y="1828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Prometheus datasource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36208" y="21214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any PromQL query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24140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to Loki for logs (if configured)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862072"/>
            <a:ext cx="26974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862072"/>
            <a:ext cx="2697480" cy="384048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07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Add a New Panel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" y="33192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dashboard → Add panel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" y="36118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visualization type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" y="39044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PromQL in Metrics editor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41970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transforms, set thresholds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46120" y="2862072"/>
            <a:ext cx="26974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2862072"/>
            <a:ext cx="2697480" cy="384048"/>
          </a:xfrm>
          <a:prstGeom prst="rect">
            <a:avLst/>
          </a:prstGeom>
          <a:solidFill>
            <a:srgbClr val="F72585">
              <a:alpha val="85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907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Grafana Alerting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55848" y="33192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Alerting → Alert rules → New rule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55848" y="36118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PromQL condition + duration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55848" y="39044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notification policy (Slack/email)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55848" y="41970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alert to verify routing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2862072"/>
            <a:ext cx="26974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2862072"/>
            <a:ext cx="2697480" cy="384048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907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Dashboard Variables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36208" y="33192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 → Variables → Add variable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36208" y="36118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Type: Query → PromQL label_values()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36208" y="39044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$namespace in panel queries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36208" y="41970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dynamic dashboard filtering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Setup — Rules &amp; Alertmanager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PrometheusRules CRD → Alertmanager routes → Slack / PagerDuty / Email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PrometheusRule CRD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517904"/>
            <a:ext cx="406908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8862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monitoring.coreos.com/v1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PrometheusRule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postgres-alerts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monitoring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release: kube-prom-stack  # must match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postgres.rules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interval: 30s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alert: PostgresDown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expr: pg_up == 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for: 2m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severity: critical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annotations: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summary: "PostgreSQL is down"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description: "Pod {{ $labels.pod }}"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alert: PostgresHighConns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expr: &gt;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pg_stat_activity_count &gt;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(pg_settings_max_connections * 0.8)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for: 5m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severity: warning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annotations: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summary: "High connection count"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023360" cy="3703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521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Config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749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alertmanager-config.yaml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slack_api_url: 'https://hooks.slack.com/...'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receiver: 'slack-notifications'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group_by: [alertname, severity]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group_wait: 30s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group_interval: 5m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repeat_interval: 12h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match: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severity: critical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receiver: pagerduty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match: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severity: warning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receiver: slack-notifications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slack-notifications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slack_configs: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channel: '#k8s-alerts'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send_resolved: true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'[{{ .Status | upper }}] {{ .GroupLabels.alertname }}'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 '{{ range .Alerts }}{{ .Annotations.description }}{{ end }}'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pagerduty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pagerduty_configs: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service_key: '&lt;YOUR_INTEGRATION_KEY&gt;'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3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Series Wrap-Up — What We Covered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269748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2697480" cy="475488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is YAML &amp; K8s manifests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Volume types: emptyDir, hostPath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ConfigMap &amp; Secret volumes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NFS &amp; CSI storage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027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K8s Storage Architecture overview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078992"/>
            <a:ext cx="269748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78992"/>
            <a:ext cx="2697480" cy="475488"/>
          </a:xfrm>
          <a:prstGeom prst="rect">
            <a:avLst/>
          </a:prstGeom>
          <a:solidFill>
            <a:srgbClr val="9D4EDD">
              <a:alpha val="9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155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627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PersistentVolume (PV) lifecycle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1214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PVC binding &amp; access modes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615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StorageClass dynamic provisioning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StatefulSet vs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6027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 HA + Cloud-Native Operators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078992"/>
            <a:ext cx="269748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78992"/>
            <a:ext cx="2697480" cy="475488"/>
          </a:xfrm>
          <a:prstGeom prst="rect">
            <a:avLst/>
          </a:prstGeom>
          <a:solidFill>
            <a:srgbClr val="E6522C">
              <a:alpha val="90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1155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1627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Observability: Metrics / Logs / Traces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1214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Prometheus architecture + PromQL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615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Grafana dashboards &amp; alerting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kube-prometheus-stack Helm deploy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6027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PrometheusRule + Alertmanager config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407408"/>
            <a:ext cx="109728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4443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 your local minikube cluster  ·  Deploy CloudNativePG in staging  ·  Set up real Slack alerts  ·  Explore Loki for log aggregation  ·  Contribute custom dashboards to the team repo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Thank You for attending!  |  All YAML &amp; scripts: git.internal/k8s-kt-series  |  Feedback welcome!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Storage KT — Day 3</dc:title>
  <dc:subject>PptxGenJS Presentation</dc:subject>
  <dc:creator>PptxGenJS</dc:creator>
  <cp:lastModifiedBy>PptxGenJS</cp:lastModifiedBy>
  <cp:revision>3</cp:revision>
  <dcterms:created xsi:type="dcterms:W3CDTF">2026-05-13T19:03:01Z</dcterms:created>
  <dcterms:modified xsi:type="dcterms:W3CDTF">2026-05-30T09:22:04Z</dcterms:modified>
</cp:coreProperties>
</file>