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65" r:id="rId12"/>
    <p:sldId id="266" r:id="rId13"/>
    <p:sldId id="267" r:id="rId14"/>
    <p:sldId id="268" r:id="rId15"/>
    <p:sldId id="269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80F3AC-8335-8B76-5950-AE9616FC7648}" v="140" dt="2026-05-14T10:45:13.8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 Akash" userId="S::akash.dbaskar@sifycorp.com::40b8be2a-ff89-49ab-947c-a8cb54b1d32c" providerId="AD" clId="Web-{DB80F3AC-8335-8B76-5950-AE9616FC7648}"/>
    <pc:docChg chg="modSld sldOrd">
      <pc:chgData name="B Akash" userId="S::akash.dbaskar@sifycorp.com::40b8be2a-ff89-49ab-947c-a8cb54b1d32c" providerId="AD" clId="Web-{DB80F3AC-8335-8B76-5950-AE9616FC7648}" dt="2026-05-14T10:45:13.860" v="137" actId="20577"/>
      <pc:docMkLst>
        <pc:docMk/>
      </pc:docMkLst>
      <pc:sldChg chg="modSp">
        <pc:chgData name="B Akash" userId="S::akash.dbaskar@sifycorp.com::40b8be2a-ff89-49ab-947c-a8cb54b1d32c" providerId="AD" clId="Web-{DB80F3AC-8335-8B76-5950-AE9616FC7648}" dt="2026-05-14T08:04:05.848" v="63" actId="1076"/>
        <pc:sldMkLst>
          <pc:docMk/>
          <pc:sldMk cId="0" sldId="256"/>
        </pc:sldMkLst>
        <pc:spChg chg="mod">
          <ac:chgData name="B Akash" userId="S::akash.dbaskar@sifycorp.com::40b8be2a-ff89-49ab-947c-a8cb54b1d32c" providerId="AD" clId="Web-{DB80F3AC-8335-8B76-5950-AE9616FC7648}" dt="2026-05-14T08:04:05.848" v="63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B Akash" userId="S::akash.dbaskar@sifycorp.com::40b8be2a-ff89-49ab-947c-a8cb54b1d32c" providerId="AD" clId="Web-{DB80F3AC-8335-8B76-5950-AE9616FC7648}" dt="2026-05-14T08:03:50.645" v="62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B Akash" userId="S::akash.dbaskar@sifycorp.com::40b8be2a-ff89-49ab-947c-a8cb54b1d32c" providerId="AD" clId="Web-{DB80F3AC-8335-8B76-5950-AE9616FC7648}" dt="2026-05-14T08:03:38.191" v="60" actId="14100"/>
          <ac:spMkLst>
            <pc:docMk/>
            <pc:sldMk cId="0" sldId="256"/>
            <ac:spMk id="8" creationId="{00000000-0000-0000-0000-000000000000}"/>
          </ac:spMkLst>
        </pc:spChg>
        <pc:spChg chg="mod">
          <ac:chgData name="B Akash" userId="S::akash.dbaskar@sifycorp.com::40b8be2a-ff89-49ab-947c-a8cb54b1d32c" providerId="AD" clId="Web-{DB80F3AC-8335-8B76-5950-AE9616FC7648}" dt="2026-05-14T08:03:43.863" v="61" actId="20577"/>
          <ac:spMkLst>
            <pc:docMk/>
            <pc:sldMk cId="0" sldId="256"/>
            <ac:spMk id="10" creationId="{00000000-0000-0000-0000-000000000000}"/>
          </ac:spMkLst>
        </pc:spChg>
      </pc:sldChg>
      <pc:sldChg chg="modSp">
        <pc:chgData name="B Akash" userId="S::akash.dbaskar@sifycorp.com::40b8be2a-ff89-49ab-947c-a8cb54b1d32c" providerId="AD" clId="Web-{DB80F3AC-8335-8B76-5950-AE9616FC7648}" dt="2026-05-14T08:02:32.737" v="59" actId="20577"/>
        <pc:sldMkLst>
          <pc:docMk/>
          <pc:sldMk cId="0" sldId="259"/>
        </pc:sldMkLst>
        <pc:spChg chg="mod">
          <ac:chgData name="B Akash" userId="S::akash.dbaskar@sifycorp.com::40b8be2a-ff89-49ab-947c-a8cb54b1d32c" providerId="AD" clId="Web-{DB80F3AC-8335-8B76-5950-AE9616FC7648}" dt="2026-05-14T08:02:32.737" v="59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B Akash" userId="S::akash.dbaskar@sifycorp.com::40b8be2a-ff89-49ab-947c-a8cb54b1d32c" providerId="AD" clId="Web-{DB80F3AC-8335-8B76-5950-AE9616FC7648}" dt="2026-05-14T08:00:13.279" v="5" actId="20577"/>
          <ac:spMkLst>
            <pc:docMk/>
            <pc:sldMk cId="0" sldId="259"/>
            <ac:spMk id="10" creationId="{00000000-0000-0000-0000-000000000000}"/>
          </ac:spMkLst>
        </pc:spChg>
      </pc:sldChg>
      <pc:sldChg chg="addSp delSp modSp ord">
        <pc:chgData name="B Akash" userId="S::akash.dbaskar@sifycorp.com::40b8be2a-ff89-49ab-947c-a8cb54b1d32c" providerId="AD" clId="Web-{DB80F3AC-8335-8B76-5950-AE9616FC7648}" dt="2026-05-14T08:07:44.834" v="100"/>
        <pc:sldMkLst>
          <pc:docMk/>
          <pc:sldMk cId="0" sldId="270"/>
        </pc:sldMkLst>
        <pc:spChg chg="mod">
          <ac:chgData name="B Akash" userId="S::akash.dbaskar@sifycorp.com::40b8be2a-ff89-49ab-947c-a8cb54b1d32c" providerId="AD" clId="Web-{DB80F3AC-8335-8B76-5950-AE9616FC7648}" dt="2026-05-14T08:05:24.396" v="78" actId="20577"/>
          <ac:spMkLst>
            <pc:docMk/>
            <pc:sldMk cId="0" sldId="270"/>
            <ac:spMk id="7" creationId="{00000000-0000-0000-0000-000000000000}"/>
          </ac:spMkLst>
        </pc:spChg>
        <pc:spChg chg="mod">
          <ac:chgData name="B Akash" userId="S::akash.dbaskar@sifycorp.com::40b8be2a-ff89-49ab-947c-a8cb54b1d32c" providerId="AD" clId="Web-{DB80F3AC-8335-8B76-5950-AE9616FC7648}" dt="2026-05-14T08:05:32.880" v="83" actId="20577"/>
          <ac:spMkLst>
            <pc:docMk/>
            <pc:sldMk cId="0" sldId="270"/>
            <ac:spMk id="13" creationId="{00000000-0000-0000-0000-000000000000}"/>
          </ac:spMkLst>
        </pc:spChg>
        <pc:spChg chg="del">
          <ac:chgData name="B Akash" userId="S::akash.dbaskar@sifycorp.com::40b8be2a-ff89-49ab-947c-a8cb54b1d32c" providerId="AD" clId="Web-{DB80F3AC-8335-8B76-5950-AE9616FC7648}" dt="2026-05-14T08:05:48.412" v="89"/>
          <ac:spMkLst>
            <pc:docMk/>
            <pc:sldMk cId="0" sldId="270"/>
            <ac:spMk id="17" creationId="{00000000-0000-0000-0000-000000000000}"/>
          </ac:spMkLst>
        </pc:spChg>
        <pc:spChg chg="del">
          <ac:chgData name="B Akash" userId="S::akash.dbaskar@sifycorp.com::40b8be2a-ff89-49ab-947c-a8cb54b1d32c" providerId="AD" clId="Web-{DB80F3AC-8335-8B76-5950-AE9616FC7648}" dt="2026-05-14T08:05:48.412" v="88"/>
          <ac:spMkLst>
            <pc:docMk/>
            <pc:sldMk cId="0" sldId="270"/>
            <ac:spMk id="18" creationId="{00000000-0000-0000-0000-000000000000}"/>
          </ac:spMkLst>
        </pc:spChg>
        <pc:spChg chg="del">
          <ac:chgData name="B Akash" userId="S::akash.dbaskar@sifycorp.com::40b8be2a-ff89-49ab-947c-a8cb54b1d32c" providerId="AD" clId="Web-{DB80F3AC-8335-8B76-5950-AE9616FC7648}" dt="2026-05-14T08:05:48.412" v="87"/>
          <ac:spMkLst>
            <pc:docMk/>
            <pc:sldMk cId="0" sldId="270"/>
            <ac:spMk id="19" creationId="{00000000-0000-0000-0000-000000000000}"/>
          </ac:spMkLst>
        </pc:spChg>
        <pc:spChg chg="del">
          <ac:chgData name="B Akash" userId="S::akash.dbaskar@sifycorp.com::40b8be2a-ff89-49ab-947c-a8cb54b1d32c" providerId="AD" clId="Web-{DB80F3AC-8335-8B76-5950-AE9616FC7648}" dt="2026-05-14T08:05:48.412" v="86"/>
          <ac:spMkLst>
            <pc:docMk/>
            <pc:sldMk cId="0" sldId="270"/>
            <ac:spMk id="20" creationId="{00000000-0000-0000-0000-000000000000}"/>
          </ac:spMkLst>
        </pc:spChg>
        <pc:spChg chg="del">
          <ac:chgData name="B Akash" userId="S::akash.dbaskar@sifycorp.com::40b8be2a-ff89-49ab-947c-a8cb54b1d32c" providerId="AD" clId="Web-{DB80F3AC-8335-8B76-5950-AE9616FC7648}" dt="2026-05-14T08:05:48.412" v="85"/>
          <ac:spMkLst>
            <pc:docMk/>
            <pc:sldMk cId="0" sldId="270"/>
            <ac:spMk id="21" creationId="{00000000-0000-0000-0000-000000000000}"/>
          </ac:spMkLst>
        </pc:spChg>
        <pc:spChg chg="del">
          <ac:chgData name="B Akash" userId="S::akash.dbaskar@sifycorp.com::40b8be2a-ff89-49ab-947c-a8cb54b1d32c" providerId="AD" clId="Web-{DB80F3AC-8335-8B76-5950-AE9616FC7648}" dt="2026-05-14T08:05:48.412" v="84"/>
          <ac:spMkLst>
            <pc:docMk/>
            <pc:sldMk cId="0" sldId="270"/>
            <ac:spMk id="22" creationId="{00000000-0000-0000-0000-000000000000}"/>
          </ac:spMkLst>
        </pc:spChg>
        <pc:picChg chg="add del mod">
          <ac:chgData name="B Akash" userId="S::akash.dbaskar@sifycorp.com::40b8be2a-ff89-49ab-947c-a8cb54b1d32c" providerId="AD" clId="Web-{DB80F3AC-8335-8B76-5950-AE9616FC7648}" dt="2026-05-14T08:06:13.787" v="91"/>
          <ac:picMkLst>
            <pc:docMk/>
            <pc:sldMk cId="0" sldId="270"/>
            <ac:picMk id="24" creationId="{0125F897-CC91-E32E-B5DA-1D83C9563F44}"/>
          </ac:picMkLst>
        </pc:picChg>
        <pc:picChg chg="add mod">
          <ac:chgData name="B Akash" userId="S::akash.dbaskar@sifycorp.com::40b8be2a-ff89-49ab-947c-a8cb54b1d32c" providerId="AD" clId="Web-{DB80F3AC-8335-8B76-5950-AE9616FC7648}" dt="2026-05-14T08:07:20.272" v="98" actId="14100"/>
          <ac:picMkLst>
            <pc:docMk/>
            <pc:sldMk cId="0" sldId="270"/>
            <ac:picMk id="25" creationId="{1EB5F6B8-01F8-E1D1-5F73-E2F2B9D92941}"/>
          </ac:picMkLst>
        </pc:picChg>
      </pc:sldChg>
      <pc:sldChg chg="modSp">
        <pc:chgData name="B Akash" userId="S::akash.dbaskar@sifycorp.com::40b8be2a-ff89-49ab-947c-a8cb54b1d32c" providerId="AD" clId="Web-{DB80F3AC-8335-8B76-5950-AE9616FC7648}" dt="2026-05-14T10:45:13.860" v="137" actId="20577"/>
        <pc:sldMkLst>
          <pc:docMk/>
          <pc:sldMk cId="0" sldId="271"/>
        </pc:sldMkLst>
        <pc:spChg chg="mod">
          <ac:chgData name="B Akash" userId="S::akash.dbaskar@sifycorp.com::40b8be2a-ff89-49ab-947c-a8cb54b1d32c" providerId="AD" clId="Web-{DB80F3AC-8335-8B76-5950-AE9616FC7648}" dt="2026-05-14T10:45:13.860" v="137" actId="20577"/>
          <ac:spMkLst>
            <pc:docMk/>
            <pc:sldMk cId="0" sldId="271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530E6F-7362-4F52-BB5A-CA9B80C512D8}" type="datetimeFigureOut"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CC43FF-DFA4-468A-B86B-4C477A760FF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153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2067" y="196187"/>
            <a:ext cx="3200400" cy="5143500"/>
          </a:xfrm>
          <a:prstGeom prst="rect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65760"/>
            <a:ext cx="2103120" cy="3657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384048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☸  KUBERNETES  |  KT DAY 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Volumes · PV · PVC · </a:t>
            </a:r>
            <a:r>
              <a:rPr lang="en-US" sz="2000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Storage Class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&amp; Grafana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74259" y="3118719"/>
            <a:ext cx="2727847" cy="17058"/>
          </a:xfrm>
          <a:prstGeom prst="line">
            <a:avLst/>
          </a:prstGeom>
          <a:noFill/>
          <a:ln w="3175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Knowledge Transfer — Series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Date: 14 May 2026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583680" y="1280160"/>
            <a:ext cx="1920240" cy="411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280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0" y="1920240"/>
            <a:ext cx="1920240" cy="411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920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0" y="2560320"/>
            <a:ext cx="1920240" cy="411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560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3200400"/>
            <a:ext cx="1920240" cy="411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200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0" y="3840480"/>
            <a:ext cx="1920240" cy="411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840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023360" cy="35204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Session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1: Volumes &amp; Storage Architecture</a:t>
            </a:r>
            <a:endParaRPr lang="en-US" sz="135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2: PV, PVC &amp; Storage Classes</a:t>
            </a:r>
            <a:endParaRPr lang="en-US" sz="135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3: Prometheus &amp; Grafana Monitoring</a:t>
            </a:r>
            <a:endParaRPr lang="en-US" sz="135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YAML demos every session</a:t>
            </a:r>
            <a:endParaRPr lang="en-US" sz="135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at end of each module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09160" y="960120"/>
            <a:ext cx="3840480" cy="35204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0515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481328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Linux command line knowledge</a:t>
            </a:r>
            <a:endParaRPr lang="en-US" sz="135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fundamentals (containers, images)</a:t>
            </a:r>
            <a:endParaRPr lang="en-US" sz="135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Pods &amp; Deployments basics</a:t>
            </a:r>
            <a:endParaRPr lang="en-US" sz="135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CLI installed &amp; configured</a:t>
            </a:r>
            <a:endParaRPr lang="en-US" sz="135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demo cluster (shared creds)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1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Day 1 KT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20624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50292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0058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YAML?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420624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20240"/>
            <a:ext cx="502920" cy="7772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202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Volume?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420624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80360"/>
            <a:ext cx="502920" cy="7772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8803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29260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Volumes?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840480"/>
            <a:ext cx="420624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840480"/>
            <a:ext cx="50292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8404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88620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Architecture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960120"/>
            <a:ext cx="420624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960120"/>
            <a:ext cx="502920" cy="7772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9601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49240" y="10058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Types Deep Dive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920240"/>
            <a:ext cx="420624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920240"/>
            <a:ext cx="502920" cy="777240"/>
          </a:xfrm>
          <a:prstGeom prst="rect">
            <a:avLst/>
          </a:prstGeom>
          <a:solidFill>
            <a:srgbClr val="8ECAE6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9202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49240" y="19659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emptyDir · hostPath · ConfigMap · Secrets · NFS · CSI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2880360"/>
            <a:ext cx="420624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880360"/>
            <a:ext cx="502920" cy="777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8803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49240" y="29260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Demo Setup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3840480"/>
            <a:ext cx="420624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840480"/>
            <a:ext cx="502920" cy="7772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8404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49240" y="388620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/ Wrap-Up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1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YAML?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86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Ain't Markup Language — Human-readable data serialization format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572000" cy="35661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6187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4297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Font typeface="Arial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Indentation-based structure (2 spaces, no tabs)</a:t>
            </a:r>
            <a:endParaRPr lang="en-US" sz="1250" dirty="0">
              <a:ea typeface="Calibri" panose="020F0502020204030204"/>
              <a:cs typeface="Calibri" panose="020F0502020204030204"/>
            </a:endParaRPr>
          </a:p>
          <a:p>
            <a:pPr marL="342900" indent="-342900" algn="l">
              <a:buSzPct val="100000"/>
              <a:buFont typeface="Arial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pairs at the core of every manifest</a:t>
            </a:r>
            <a:endParaRPr lang="en-US" sz="1250" dirty="0">
              <a:ea typeface="Calibri" panose="020F0502020204030204"/>
              <a:cs typeface="Calibri" panose="020F0502020204030204"/>
            </a:endParaRPr>
          </a:p>
          <a:p>
            <a:pPr marL="342900" indent="-342900" algn="l">
              <a:buSzPct val="100000"/>
              <a:buFont typeface="Arial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lists (- item) and nested maps</a:t>
            </a:r>
            <a:endParaRPr lang="en-US" sz="1250" dirty="0">
              <a:ea typeface="Calibri" panose="020F0502020204030204"/>
              <a:cs typeface="Calibri" panose="020F0502020204030204"/>
            </a:endParaRPr>
          </a:p>
          <a:p>
            <a:pPr marL="342900" indent="-342900" algn="l">
              <a:buSzPct val="100000"/>
              <a:buFont typeface="Arial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ALL Kubernetes resource definitions</a:t>
            </a:r>
            <a:endParaRPr lang="en-US" sz="1250" dirty="0">
              <a:ea typeface="Calibri" panose="020F0502020204030204"/>
              <a:cs typeface="Calibri" panose="020F0502020204030204"/>
            </a:endParaRPr>
          </a:p>
          <a:p>
            <a:pPr marL="342900" indent="-342900">
              <a:buSzPct val="100000"/>
              <a:buFont typeface="Arial"/>
              <a:buChar char="•"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Comments start with # — ignored by parser</a:t>
            </a:r>
            <a:endParaRPr lang="en-US" sz="140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SzPct val="100000"/>
              <a:buFont typeface="Arial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Three main document 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sections: </a:t>
            </a:r>
            <a:endParaRPr lang="en-US" sz="12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00100" lvl="1" indent="-342900">
              <a:buSzPct val="100000"/>
              <a:buFont typeface="Arial"/>
              <a:buChar char="•"/>
            </a:pPr>
            <a:r>
              <a:rPr lang="en-US" sz="1250" dirty="0" err="1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apiVersion</a:t>
            </a:r>
            <a:r>
              <a:rPr lang="en-US" sz="125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 — K8s API group &amp; version</a:t>
            </a:r>
            <a:endParaRPr lang="en-US" sz="125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00100" lvl="1" indent="-342900">
              <a:buSzPct val="100000"/>
              <a:buFont typeface="Arial"/>
              <a:buChar char="•"/>
            </a:pPr>
            <a:r>
              <a:rPr lang="en-US" sz="125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metadata   — Name, namespace, labels</a:t>
            </a:r>
            <a:endParaRPr lang="en-US" sz="12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00100" lvl="1" indent="-342900">
              <a:buSzPct val="100000"/>
              <a:buFont typeface="Arial"/>
              <a:buChar char="•"/>
            </a:pPr>
            <a:r>
              <a:rPr lang="en-US" sz="125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spec       — Desired state of the resource</a:t>
            </a:r>
            <a:endParaRPr lang="en-US" sz="12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lvl="1">
              <a:buSzPct val="100000"/>
            </a:pPr>
            <a:endParaRPr lang="en-US" sz="1250" dirty="0">
              <a:solidFill>
                <a:srgbClr val="90E0EF"/>
              </a:solidFill>
              <a:latin typeface="Calibri"/>
              <a:ea typeface="Calibri"/>
              <a:cs typeface="Calibri"/>
            </a:endParaRPr>
          </a:p>
          <a:p>
            <a:pPr marL="685800" lvl="1" indent="-342900">
              <a:buSzPct val="100000"/>
              <a:buFont typeface="Arial"/>
              <a:buChar char="•"/>
            </a:pPr>
            <a:endParaRPr lang="en-US" sz="140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166360" y="1170432"/>
            <a:ext cx="356616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257800" y="124358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YAML — Pod Manifest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57800" y="1600200"/>
            <a:ext cx="33832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 err="1">
                <a:solidFill>
                  <a:srgbClr val="A8FF78"/>
                </a:solidFill>
                <a:latin typeface="Consolas"/>
                <a:ea typeface="Consolas" pitchFamily="34" charset="-122"/>
                <a:cs typeface="Consolas" pitchFamily="34" charset="-120"/>
              </a:rPr>
              <a:t>apiVersion</a:t>
            </a:r>
            <a:r>
              <a:rPr lang="en-US" sz="950" dirty="0">
                <a:solidFill>
                  <a:srgbClr val="A8FF78"/>
                </a:solidFill>
                <a:latin typeface="Consolas"/>
                <a:ea typeface="Consolas" pitchFamily="34" charset="-122"/>
                <a:cs typeface="Consolas" pitchFamily="34" charset="-120"/>
              </a:rPr>
              <a:t>: v1</a:t>
            </a:r>
            <a:endParaRPr lang="en-US" sz="950" dirty="0">
              <a:solidFill>
                <a:srgbClr val="A8FF78"/>
              </a:solidFill>
              <a:latin typeface="Consolas"/>
              <a:ea typeface="Calibri"/>
              <a:cs typeface="Calibri"/>
            </a:endParaRPr>
          </a:p>
          <a:p>
            <a:pPr algn="l">
              <a:buNone/>
            </a:pPr>
            <a:r>
              <a:rPr lang="en-US" sz="950" dirty="0">
                <a:solidFill>
                  <a:srgbClr val="A8FF78"/>
                </a:solidFill>
                <a:latin typeface="Consolas"/>
                <a:ea typeface="Consolas" pitchFamily="34" charset="-122"/>
                <a:cs typeface="Consolas" pitchFamily="34" charset="-120"/>
              </a:rPr>
              <a:t>kind: Pod</a:t>
            </a:r>
            <a:endParaRPr lang="en-US" sz="950" dirty="0">
              <a:solidFill>
                <a:srgbClr val="A8FF78"/>
              </a:solidFill>
              <a:latin typeface="Consolas"/>
              <a:ea typeface="Calibri"/>
              <a:cs typeface="Calibri"/>
            </a:endParaRPr>
          </a:p>
          <a:p>
            <a:pPr algn="l">
              <a:buNone/>
            </a:pPr>
            <a:r>
              <a:rPr lang="en-US" sz="950" dirty="0">
                <a:solidFill>
                  <a:srgbClr val="A8FF78"/>
                </a:solidFill>
                <a:latin typeface="Consolas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>
              <a:solidFill>
                <a:srgbClr val="A8FF78"/>
              </a:solidFill>
              <a:latin typeface="Consolas"/>
              <a:ea typeface="Calibri"/>
              <a:cs typeface="Calibri"/>
            </a:endParaRPr>
          </a:p>
          <a:p>
            <a:r>
              <a:rPr lang="en-US" sz="950" dirty="0">
                <a:solidFill>
                  <a:srgbClr val="A8FF78"/>
                </a:solidFill>
                <a:latin typeface="Consolas"/>
                <a:ea typeface="Consolas" pitchFamily="34" charset="-122"/>
                <a:cs typeface="Consolas" pitchFamily="34" charset="-120"/>
              </a:rPr>
              <a:t>  name: my-app</a:t>
            </a:r>
            <a:endParaRPr lang="en-US" sz="950">
              <a:ea typeface="Calibri"/>
              <a:cs typeface="Calibri"/>
            </a:endParaRPr>
          </a:p>
          <a:p>
            <a:r>
              <a:rPr lang="en-US" sz="950" dirty="0">
                <a:solidFill>
                  <a:srgbClr val="A8FF78"/>
                </a:solidFill>
                <a:latin typeface="Consolas"/>
                <a:ea typeface="Consolas" pitchFamily="34" charset="-122"/>
                <a:cs typeface="Consolas" pitchFamily="34" charset="-120"/>
              </a:rPr>
              <a:t>  namespace: default</a:t>
            </a:r>
            <a:endParaRPr lang="en-US" sz="950" dirty="0">
              <a:solidFill>
                <a:srgbClr val="A8FF78"/>
              </a:solidFill>
              <a:latin typeface="Consolas"/>
              <a:ea typeface="Calibri"/>
              <a:cs typeface="Calibri"/>
            </a:endParaRPr>
          </a:p>
          <a:p>
            <a:r>
              <a:rPr lang="en-US" sz="950" dirty="0">
                <a:solidFill>
                  <a:srgbClr val="A8FF78"/>
                </a:solidFill>
                <a:latin typeface="Consolas"/>
                <a:ea typeface="Calibri"/>
                <a:cs typeface="Calibri"/>
              </a:rPr>
              <a:t>  labels:</a:t>
            </a:r>
            <a:endParaRPr lang="en-US" sz="9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950" dirty="0">
                <a:solidFill>
                  <a:srgbClr val="A8FF78"/>
                </a:solidFill>
                <a:latin typeface="Consolas"/>
                <a:ea typeface="Calibri"/>
                <a:cs typeface="Calibri"/>
              </a:rPr>
              <a:t>    app: my-app</a:t>
            </a:r>
            <a:endParaRPr lang="en-US" sz="9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950" dirty="0">
                <a:solidFill>
                  <a:srgbClr val="A8FF78"/>
                </a:solidFill>
                <a:latin typeface="Consolas"/>
                <a:ea typeface="Calibri"/>
                <a:cs typeface="Calibri"/>
              </a:rPr>
              <a:t>    env: dev</a:t>
            </a:r>
            <a:endParaRPr lang="en-US" sz="9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</a:pPr>
            <a:r>
              <a:rPr lang="en-US" sz="950" dirty="0">
                <a:solidFill>
                  <a:srgbClr val="A8FF78"/>
                </a:solidFill>
                <a:latin typeface="Consolas"/>
                <a:ea typeface="Consolas" pitchFamily="34" charset="-122"/>
                <a:cs typeface="Consolas" pitchFamily="34" charset="-120"/>
              </a:rPr>
              <a:t>spec:</a:t>
            </a:r>
            <a:endParaRPr lang="en-US" sz="950" dirty="0">
              <a:solidFill>
                <a:srgbClr val="A8FF78"/>
              </a:solidFill>
              <a:latin typeface="Consolas"/>
              <a:ea typeface="Calibri"/>
              <a:cs typeface="Calibri"/>
            </a:endParaRPr>
          </a:p>
          <a:p>
            <a:r>
              <a:rPr lang="en-US" sz="950" dirty="0">
                <a:solidFill>
                  <a:srgbClr val="A8FF78"/>
                </a:solidFill>
                <a:latin typeface="Consolas"/>
                <a:ea typeface="Consolas" pitchFamily="34" charset="-122"/>
                <a:cs typeface="Consolas" pitchFamily="34" charset="-120"/>
              </a:rPr>
              <a:t>  containers:</a:t>
            </a:r>
            <a:endParaRPr lang="en-US" sz="950" dirty="0">
              <a:solidFill>
                <a:srgbClr val="A8FF78"/>
              </a:solidFill>
              <a:latin typeface="Consolas"/>
              <a:ea typeface="Calibri"/>
              <a:cs typeface="Calibri"/>
            </a:endParaRPr>
          </a:p>
          <a:p>
            <a:r>
              <a:rPr lang="en-US" sz="950" dirty="0">
                <a:solidFill>
                  <a:srgbClr val="A8FF78"/>
                </a:solidFill>
                <a:latin typeface="Consolas"/>
                <a:ea typeface="Consolas" pitchFamily="34" charset="-122"/>
                <a:cs typeface="Consolas" pitchFamily="34" charset="-120"/>
              </a:rPr>
              <a:t>  - name: app-container</a:t>
            </a:r>
            <a:endParaRPr lang="en-US" sz="950">
              <a:ea typeface="Calibri"/>
              <a:cs typeface="Calibri"/>
            </a:endParaRPr>
          </a:p>
          <a:p>
            <a:r>
              <a:rPr lang="en-US" sz="950" dirty="0">
                <a:solidFill>
                  <a:srgbClr val="A8FF78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image: </a:t>
            </a:r>
            <a:r>
              <a:rPr lang="en-US" sz="950" dirty="0" err="1">
                <a:solidFill>
                  <a:srgbClr val="A8FF78"/>
                </a:solidFill>
                <a:latin typeface="Consolas"/>
                <a:ea typeface="Consolas" pitchFamily="34" charset="-122"/>
                <a:cs typeface="Consolas" pitchFamily="34" charset="-120"/>
              </a:rPr>
              <a:t>nginx:latest</a:t>
            </a:r>
            <a:endParaRPr lang="en-US" sz="950" dirty="0" err="1">
              <a:solidFill>
                <a:srgbClr val="A8FF78"/>
              </a:solidFill>
              <a:latin typeface="Consolas"/>
              <a:ea typeface="Calibri"/>
              <a:cs typeface="Calibri"/>
            </a:endParaRPr>
          </a:p>
          <a:p>
            <a:r>
              <a:rPr lang="en-US" sz="950" dirty="0">
                <a:solidFill>
                  <a:srgbClr val="A8FF78"/>
                </a:solidFill>
                <a:latin typeface="Consolas"/>
              </a:rPr>
              <a:t>    </a:t>
            </a:r>
            <a:r>
              <a:rPr lang="en-US" sz="950" dirty="0">
                <a:solidFill>
                  <a:srgbClr val="A8FF78"/>
                </a:solidFill>
                <a:latin typeface="Consolas"/>
                <a:ea typeface="Consolas" pitchFamily="34" charset="-122"/>
                <a:cs typeface="Consolas" pitchFamily="34" charset="-120"/>
              </a:rPr>
              <a:t>ports:</a:t>
            </a:r>
            <a:endParaRPr lang="en-US" sz="950" dirty="0">
              <a:solidFill>
                <a:srgbClr val="A8FF78"/>
              </a:solidFill>
              <a:latin typeface="Consolas"/>
              <a:ea typeface="Calibri"/>
              <a:cs typeface="Calibri"/>
            </a:endParaRPr>
          </a:p>
          <a:p>
            <a:r>
              <a:rPr lang="en-US" sz="950" dirty="0">
                <a:solidFill>
                  <a:srgbClr val="A8FF78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- </a:t>
            </a:r>
            <a:r>
              <a:rPr lang="en-US" sz="950" dirty="0" err="1">
                <a:solidFill>
                  <a:srgbClr val="A8FF78"/>
                </a:solidFill>
                <a:latin typeface="Consolas"/>
                <a:ea typeface="Consolas" pitchFamily="34" charset="-122"/>
                <a:cs typeface="Consolas" pitchFamily="34" charset="-120"/>
              </a:rPr>
              <a:t>containerPort</a:t>
            </a:r>
            <a:r>
              <a:rPr lang="en-US" sz="950" dirty="0">
                <a:solidFill>
                  <a:srgbClr val="A8FF78"/>
                </a:solidFill>
                <a:latin typeface="Consolas"/>
                <a:ea typeface="Consolas" pitchFamily="34" charset="-122"/>
                <a:cs typeface="Consolas" pitchFamily="34" charset="-120"/>
              </a:rPr>
              <a:t>: 80</a:t>
            </a:r>
            <a:endParaRPr lang="en-US" sz="950" dirty="0">
              <a:solidFill>
                <a:srgbClr val="A8FF78"/>
              </a:solidFill>
              <a:latin typeface="Consolas"/>
              <a:ea typeface="Calibri"/>
              <a:cs typeface="Calibri"/>
            </a:endParaRPr>
          </a:p>
          <a:p>
            <a:r>
              <a:rPr lang="en-US" sz="950" dirty="0">
                <a:solidFill>
                  <a:srgbClr val="A8FF78"/>
                </a:solidFill>
                <a:latin typeface="Consolas"/>
                <a:ea typeface="Calibri"/>
                <a:cs typeface="Calibri"/>
              </a:rPr>
              <a:t>    </a:t>
            </a:r>
            <a:r>
              <a:rPr lang="en-US" sz="950" dirty="0" err="1">
                <a:solidFill>
                  <a:srgbClr val="A8FF78"/>
                </a:solidFill>
                <a:latin typeface="Consolas"/>
                <a:ea typeface="Calibri"/>
                <a:cs typeface="Calibri"/>
              </a:rPr>
              <a:t>volumeMounts</a:t>
            </a:r>
            <a:r>
              <a:rPr lang="en-US" sz="950" dirty="0">
                <a:solidFill>
                  <a:srgbClr val="A8FF78"/>
                </a:solidFill>
                <a:latin typeface="Consolas"/>
                <a:ea typeface="Calibri"/>
                <a:cs typeface="Calibri"/>
              </a:rPr>
              <a:t>:</a:t>
            </a:r>
            <a:endParaRPr lang="en-US" sz="9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950" dirty="0">
                <a:solidFill>
                  <a:srgbClr val="A8FF78"/>
                </a:solidFill>
                <a:latin typeface="Consolas"/>
                <a:ea typeface="Calibri"/>
                <a:cs typeface="Calibri"/>
              </a:rPr>
              <a:t>    - </a:t>
            </a:r>
            <a:r>
              <a:rPr lang="en-US" sz="950" dirty="0" err="1">
                <a:solidFill>
                  <a:srgbClr val="A8FF78"/>
                </a:solidFill>
                <a:latin typeface="Consolas"/>
                <a:ea typeface="Calibri"/>
                <a:cs typeface="Calibri"/>
              </a:rPr>
              <a:t>mountPath</a:t>
            </a:r>
            <a:r>
              <a:rPr lang="en-US" sz="950" dirty="0">
                <a:solidFill>
                  <a:srgbClr val="A8FF78"/>
                </a:solidFill>
                <a:latin typeface="Consolas"/>
                <a:ea typeface="Calibri"/>
                <a:cs typeface="Calibri"/>
              </a:rPr>
              <a:t>: /data</a:t>
            </a:r>
            <a:endParaRPr lang="en-US" sz="9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950" dirty="0">
                <a:solidFill>
                  <a:srgbClr val="A8FF78"/>
                </a:solidFill>
                <a:latin typeface="Consolas"/>
                <a:ea typeface="Calibri"/>
                <a:cs typeface="Calibri"/>
              </a:rPr>
              <a:t>      name: my-vol</a:t>
            </a:r>
            <a:endParaRPr lang="en-US" sz="9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950" dirty="0">
                <a:solidFill>
                  <a:srgbClr val="A8FF78"/>
                </a:solidFill>
                <a:latin typeface="Consolas"/>
                <a:ea typeface="Calibri"/>
                <a:cs typeface="Calibri"/>
              </a:rPr>
              <a:t>  volumes:</a:t>
            </a:r>
            <a:endParaRPr lang="en-US" sz="9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950" dirty="0">
                <a:solidFill>
                  <a:srgbClr val="A8FF78"/>
                </a:solidFill>
                <a:latin typeface="Consolas"/>
                <a:ea typeface="Consolas" pitchFamily="34" charset="-122"/>
                <a:cs typeface="Consolas" pitchFamily="34" charset="-120"/>
              </a:rPr>
              <a:t>  - name: my-vol</a:t>
            </a:r>
            <a:endParaRPr lang="en-US" sz="950">
              <a:ea typeface="Calibri"/>
              <a:cs typeface="Calibri"/>
            </a:endParaRPr>
          </a:p>
          <a:p>
            <a:r>
              <a:rPr lang="en-US" sz="950" dirty="0">
                <a:solidFill>
                  <a:srgbClr val="A8FF78"/>
                </a:solidFill>
                <a:latin typeface="Consolas"/>
              </a:rPr>
              <a:t>    </a:t>
            </a:r>
            <a:r>
              <a:rPr lang="en-US" sz="950" dirty="0" err="1">
                <a:solidFill>
                  <a:srgbClr val="A8FF78"/>
                </a:solidFill>
                <a:latin typeface="Consolas"/>
              </a:rPr>
              <a:t>emptyDir</a:t>
            </a:r>
            <a:r>
              <a:rPr lang="en-US" sz="950" dirty="0">
                <a:solidFill>
                  <a:srgbClr val="A8FF78"/>
                </a:solidFill>
                <a:latin typeface="Consolas"/>
              </a:rPr>
              <a:t>: {}</a:t>
            </a:r>
            <a:endParaRPr lang="en-US" sz="9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1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Volume?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86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provides volumes to solve the ephemeral container filesystem problem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52144"/>
            <a:ext cx="8412480" cy="9144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52144"/>
            <a:ext cx="109728" cy="9144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16152"/>
            <a:ext cx="8046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Think of a Volume as an external USB drive plugged into a container — data survives container restarts and can be shared between containers in the same Pod.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76272"/>
            <a:ext cx="2697480" cy="25146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76272"/>
            <a:ext cx="2697480" cy="347472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Filesystem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5488" y="2596896"/>
            <a:ext cx="2468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default, a container's filesystem is temporary. Any data written inside a container is lost when the container crashes or restarts — just like clearing your browser cache.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2176272"/>
            <a:ext cx="2697480" cy="25146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2176272"/>
            <a:ext cx="2697480" cy="347472"/>
          </a:xfrm>
          <a:prstGeom prst="rect">
            <a:avLst/>
          </a:prstGeom>
          <a:solidFill>
            <a:srgbClr val="FFD166">
              <a:alpha val="8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in Kubernetes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55848" y="2596896"/>
            <a:ext cx="2468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Volume is a directory accessible to containers in a Pod. It exists beyond the lifetime of individual containers. It is declared in the Pod spec and mounted into one or more containers.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2176272"/>
            <a:ext cx="2697480" cy="25146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176272"/>
            <a:ext cx="2697480" cy="347472"/>
          </a:xfrm>
          <a:prstGeom prst="rect">
            <a:avLst/>
          </a:prstGeom>
          <a:solidFill>
            <a:srgbClr val="06D6A0">
              <a:alpha val="8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vs Docker Volume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36208" y="2596896"/>
            <a:ext cx="2468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volumes are loosely managed. K8s volumes are declared explicitly in the Pod spec, support many backend types (disk, NFS, cloud), and integrate with the full K8s lifecycle.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1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Volumes?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269748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698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Data Persistence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are ephemeral — when a container dies, so does its data. Volumes keep data alive across restarts, upgrades, and rescheduling events.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960120"/>
            <a:ext cx="269748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0698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Data Sharing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150876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containers inside the same Pod can read &amp; write a shared Volume (e.g., a log writer + log shipper sidecar pattern).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960120"/>
            <a:ext cx="269748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0698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Configuration Injection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63640" y="150876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ConfigMaps and Secrets are mounted as volumes, decoupling config from container images. Change config without rebuilding the image.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269748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0815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Stateful Workloads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52044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(MySQL, PostgreSQL, Redis), message queues (Kafka), and file servers all need durable storage — volumes enable these in K8s.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46120" y="2971800"/>
            <a:ext cx="269748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83280" y="30815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Cloud-Native Storage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352044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abstract the underlying storage — AWS EBS, Azure Disk, GCS, NFS — behind a consistent Kubernetes API.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2971800"/>
            <a:ext cx="269748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63640" y="30815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Security &amp; Compliance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352044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(TLS certs, API keys) stored in Secrets volumes is base64-encoded, access-controlled via RBAC, and never baked into images.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1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87552"/>
            <a:ext cx="822960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87552"/>
            <a:ext cx="2194560" cy="658368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24128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Pod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788920" y="1024128"/>
            <a:ext cx="5669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with volumeMounts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0" y="1645920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</a:rPr>
              <a:t>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755648"/>
            <a:ext cx="786384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755648"/>
            <a:ext cx="2194560" cy="658368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792224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PersistentVolumeClaim (PVC)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971800" y="1792224"/>
            <a:ext cx="5303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request for storage (namespace-scoped)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97680" y="241401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</a:rPr>
              <a:t>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523744"/>
            <a:ext cx="749808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2523744"/>
            <a:ext cx="2194560" cy="658368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2560320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 (PV)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154680" y="2560320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Cluster-wide storage resource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97680" y="318211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</a:rPr>
              <a:t>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" y="3291840"/>
            <a:ext cx="713232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3291840"/>
            <a:ext cx="2194560" cy="658368"/>
          </a:xfrm>
          <a:prstGeom prst="rect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3328416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StorageClass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337560" y="3328416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provisioner + reclaim policy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0" y="3950208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</a:rPr>
              <a:t>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97280" y="4059936"/>
            <a:ext cx="676656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97280" y="4059936"/>
            <a:ext cx="2194560" cy="658368"/>
          </a:xfrm>
          <a:prstGeom prst="rect">
            <a:avLst/>
          </a:prstGeom>
          <a:solidFill>
            <a:srgbClr val="8ECAE6">
              <a:alpha val="80000"/>
            </a:srgbClr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07008" y="4096512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Storage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520440" y="4096512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· AWS EBS · GCE PD · Azure Disk · Ceph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736592"/>
            <a:ext cx="8366760" cy="2743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474573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Key: PVC binds to PV → StorageClass provisions PV dynamically → CSI driver talks to backend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Types in Kubernetes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86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supports 25+ volume types — we cover the most common in this session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2697480" cy="16002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15568"/>
            <a:ext cx="2697480" cy="411480"/>
          </a:xfrm>
          <a:prstGeom prst="rect">
            <a:avLst/>
          </a:prstGeom>
          <a:solidFill>
            <a:srgbClr val="00B4D8">
              <a:alpha val="9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521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emptyDir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194560" y="117043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61848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scratch space, lives with the Pod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115568"/>
            <a:ext cx="2697480" cy="16002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15568"/>
            <a:ext cx="2697480" cy="411480"/>
          </a:xfrm>
          <a:prstGeom prst="rect">
            <a:avLst/>
          </a:prstGeom>
          <a:solidFill>
            <a:srgbClr val="FFD166">
              <a:alpha val="9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1521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hostPath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74920" y="117043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Node-local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55848" y="161848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a file/dir from the host node filesystem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115568"/>
            <a:ext cx="2697480" cy="16002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115568"/>
            <a:ext cx="2697480" cy="411480"/>
          </a:xfrm>
          <a:prstGeom prst="rect">
            <a:avLst/>
          </a:prstGeom>
          <a:solidFill>
            <a:srgbClr val="06D6A0">
              <a:alpha val="9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1521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configMap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955280" y="117043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Object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36208" y="161848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config data into container as files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898648"/>
            <a:ext cx="2697480" cy="16002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898648"/>
            <a:ext cx="2697480" cy="411480"/>
          </a:xfrm>
          <a:prstGeom prst="rect">
            <a:avLst/>
          </a:prstGeom>
          <a:solidFill>
            <a:srgbClr val="FF6B35">
              <a:alpha val="9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352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194560" y="29535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Object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" y="340156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sensitive data (passwords, tokens) safely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46120" y="2898648"/>
            <a:ext cx="2697480" cy="16002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2898648"/>
            <a:ext cx="2697480" cy="411480"/>
          </a:xfrm>
          <a:prstGeom prst="rect">
            <a:avLst/>
          </a:prstGeom>
          <a:solidFill>
            <a:srgbClr val="90E0EF">
              <a:alpha val="90000"/>
            </a:srgbClr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29352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nfs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074920" y="29535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55848" y="340156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an NFS share across multiple pods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26480" y="2898648"/>
            <a:ext cx="2697480" cy="16002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2898648"/>
            <a:ext cx="2697480" cy="411480"/>
          </a:xfrm>
          <a:prstGeom prst="rect">
            <a:avLst/>
          </a:prstGeom>
          <a:solidFill>
            <a:srgbClr val="8ECAE6">
              <a:alpha val="90000"/>
            </a:srgbClr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29352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csi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955280" y="29535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36208" y="340156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Storage Interface — extensible drivers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1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Demo Environment Setup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86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Kubernetes cluster used for all demos in this KT series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192024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704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FFFFFF"/>
                </a:solidFill>
                <a:ea typeface="Calibri"/>
                <a:cs typeface="Calibri"/>
              </a:rPr>
              <a:t>KubeAdm</a:t>
            </a:r>
          </a:p>
        </p:txBody>
      </p:sp>
      <p:sp>
        <p:nvSpPr>
          <p:cNvPr id="8" name="Shape 6"/>
          <p:cNvSpPr/>
          <p:nvPr/>
        </p:nvSpPr>
        <p:spPr>
          <a:xfrm>
            <a:off x="2514600" y="1115568"/>
            <a:ext cx="192024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1704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Version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06040" y="148132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v1.29.x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115568"/>
            <a:ext cx="192024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1704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48132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Containerd</a:t>
            </a:r>
            <a:endParaRPr lang="en-US" sz="1200" dirty="0" err="1"/>
          </a:p>
        </p:txBody>
      </p:sp>
      <p:sp>
        <p:nvSpPr>
          <p:cNvPr id="14" name="Shape 12"/>
          <p:cNvSpPr/>
          <p:nvPr/>
        </p:nvSpPr>
        <p:spPr>
          <a:xfrm>
            <a:off x="6812280" y="1115568"/>
            <a:ext cx="192024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11704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Plugin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03720" y="148132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+ hostPath (local demo)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1  |  Internal Training</a:t>
            </a:r>
            <a:endParaRPr lang="en-US" sz="900" dirty="0"/>
          </a:p>
        </p:txBody>
      </p:sp>
      <p:pic>
        <p:nvPicPr>
          <p:cNvPr id="25" name="Picture 24" descr="A diagram of a computer server&#10;&#10;AI-generated content may be incorrect.">
            <a:extLst>
              <a:ext uri="{FF2B5EF4-FFF2-40B4-BE49-F238E27FC236}">
                <a16:creationId xmlns:a16="http://schemas.microsoft.com/office/drawing/2014/main" id="{1EB5F6B8-01F8-E1D1-5F73-E2F2B9D92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055" y="793275"/>
            <a:ext cx="8824129" cy="42819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emptyDir Volume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434840" cy="3840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Characteristics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4160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fresh (empty) when Pod is assigned to a node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permanently when the Pod is removed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containers in a Pod share the same emptyDir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medium: node's disk (or RAM using memory)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 space for temp computation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working dir between sidecar containers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that can be rebuilt on Pod restart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Not for permanent data — lost on Pod deletion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74920" y="914400"/>
            <a:ext cx="370332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66360" y="98755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Example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66360" y="1353312"/>
            <a:ext cx="3520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Pod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emptydir-demo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writer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busybox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command: ["sh","-c",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"echo Hi&gt;/cache/data.txt;sleep 3600"]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volumeMounts: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mountPath: /cache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scratch-vol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reader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busybox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command: ["sh","-c",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"cat /cache/data.txt; sleep 3600"]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volumeMounts: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mountPath: /cache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scratch-vol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volumes: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scratch-vol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emptyDir: {}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RAM-backed emptyDir: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emptyDir: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  medium: Memory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  sizeLimit: 256Mi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1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hostPath Volume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434840" cy="3840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Characteristics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4160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Mounts a file or directory from the host node's filesystem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persists as long as the node exists (not tied to Pod)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Pod deletion — data remains on the node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accessible on the SAME node where Pod runs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Docker socket (/var/run/docker.sock)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monitoring (access /proc, /sys)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debugging on a single node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Security risk — exposes host filesystem to Pod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Not suitable for multi-node production use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74920" y="914400"/>
            <a:ext cx="370332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66360" y="98755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Example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66360" y="1353312"/>
            <a:ext cx="3520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Pod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hostpath-demo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app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nginx:alpine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volumeMounts: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mountPath: /host-data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host-vol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mountPath: /var/run/docker.sock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docker-sock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volumes: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host-vol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hostPath: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path: /data/myapp   # host path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type: DirectoryOrCreate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docker-sock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hostPath: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path: /var/run/docker.sock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type: Socket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hostPath types: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DirectoryOrCreate  File  Socket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BlockDevice  CharDevice  FileOrCreate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1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 Volume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434840" cy="3840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Characteristics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4160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non-sensitive config data as key-value pairs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Decouples config from container image — 12-factor app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mounted as files OR injected as env variables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key becomes a file; value becomes file content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to ConfigMap can be auto-refreshed in pods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config files (nginx.conf, app.properties)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flags, environment settings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Mounting entrypoint scripts into containers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size: 1 MiB per ConfigMap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74920" y="914400"/>
            <a:ext cx="370332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66360" y="98755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Example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66360" y="1353312"/>
            <a:ext cx="3520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Create ConfigMap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ConfigMap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app-config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app.properties: |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server.port=8080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log.level=INFO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nginx.conf: |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server { listen 80; }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Mount in Pod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Pod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configmap-demo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app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myapp:latest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volumeMounts: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mountPath: /etc/config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config-vol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volumes: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config-vol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configMap: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app-config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1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Volume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434840" cy="3840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Characteristics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4160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to ConfigMap but designed for SENSITIVE data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are Base64-encoded (not encrypted by default)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etcd — enable encryption-at-rest in production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Mounted as files (tmpfs — memory backed, not on disk)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controlled via Kubernetes RBAC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Secrets: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— generic key-value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kubernetes.io/tls — TLS certificate &amp; key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kubernetes.io/dockerconfigjson — registry creds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Base64 is NOT encryption — secure etcd separately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74920" y="914400"/>
            <a:ext cx="370332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66360" y="98755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Example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66360" y="1353312"/>
            <a:ext cx="3520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Create Secret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Secret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db-secret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Opaque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echo -n 'mypassword' | base64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db-password: bXlwYXNzd29yZA==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db-user: YWRtaW4=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Mount as Volume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Pod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secrets-demo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app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myapp:latest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volumeMounts: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mountPath: /etc/secrets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secret-vol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readOnly: true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volumes: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secret-vol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secret: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secretName: db-secret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defaultMode: 0400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1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Volume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434840" cy="3840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Characteristics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4160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File System — mount a remote NFS share into Pod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stored on the NFS server, not the node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Pod and even node failures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ReadWriteMany (RWX) — multiple pods can write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server can be inside or outside the cluster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media/uploads across multiple replicas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systems already using NFS infrastructure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multi-pod read/write shared storage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NFS server is a single point of failure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Performance limited by network bandwidth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74920" y="914400"/>
            <a:ext cx="370332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66360" y="98755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Example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66360" y="1353312"/>
            <a:ext cx="3520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Direct NFS Volume in Pod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Pod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nfs-demo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app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nginx:alpine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volumeMounts: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mountPath: /mnt/shared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nfs-vol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volumes: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nfs-vol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nfs: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server: 192.168.1.100   # NFS server IP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path: /exports/shared   # exported path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readOnly: false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Better approach: NFS via PersistentVolume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PersistentVolume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nfs-pv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capacity: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storage: 10Gi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accessModes: [ReadWriteMany]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nfs: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server: 192.168.1.100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path: /exports/shared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1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ECAE6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— Container Storage Interface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434840" cy="3840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Characteristics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4160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 plugin interface for storage vendors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deprecated in-tree plugins (FlexVolume, etc.)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Vendor-specific drivers deployed independently of K8s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snapshots, cloning, expansion &amp; topology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CSI Drivers: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EBS CSI, Azure Disk CSI, GCE PD CSI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Rook-Ceph, Longhorn, OpenEBS, Portworx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CSI Driver (kubernetes-csi/csi-driver-nfs)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StorageClass for dynamic provisioning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Recommended for all production environments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74920" y="914400"/>
            <a:ext cx="370332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66360" y="98755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Example (AWS EBS CSI)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66360" y="1353312"/>
            <a:ext cx="3520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StorageClass using CSI Driver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storage.k8s.io/v1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StorageClass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ebs-sc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provisioner: ebs.csi.aws.com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volumeBindingMode: WaitForFirstConsumer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type: gp3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encrypted: "true"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PVC using the StorageClass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PersistentVolumeClaim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ebs-claim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accessModes: [ReadWriteOnce]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storageClassName: ebs-sc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requests: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storage: 20Gi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Pod using the PVC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ebs-vol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persistentVolumeClaim: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claimName: ebs-claim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1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Section — Hands-On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14800" cy="17830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75488" cy="1783080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47548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1033272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emptyDir — Shared Cache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32688" y="1399032"/>
            <a:ext cx="3456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 err="1">
                <a:solidFill>
                  <a:srgbClr val="A8FF78"/>
                </a:solidFill>
                <a:ea typeface="+mn-lt"/>
                <a:cs typeface="+mn-lt"/>
              </a:rPr>
              <a:t>kubectl</a:t>
            </a:r>
            <a:r>
              <a:rPr lang="en-US" sz="950" dirty="0">
                <a:solidFill>
                  <a:srgbClr val="A8FF78"/>
                </a:solidFill>
                <a:ea typeface="+mn-lt"/>
                <a:cs typeface="+mn-lt"/>
              </a:rPr>
              <a:t> apply –f &lt;</a:t>
            </a:r>
            <a:r>
              <a:rPr lang="en-US" sz="950" dirty="0" err="1">
                <a:solidFill>
                  <a:srgbClr val="A8FF78"/>
                </a:solidFill>
                <a:ea typeface="+mn-lt"/>
                <a:cs typeface="+mn-lt"/>
              </a:rPr>
              <a:t>yaml</a:t>
            </a:r>
            <a:r>
              <a:rPr lang="en-US" sz="950" dirty="0">
                <a:solidFill>
                  <a:srgbClr val="A8FF78"/>
                </a:solidFill>
                <a:ea typeface="+mn-lt"/>
                <a:cs typeface="+mn-lt"/>
              </a:rPr>
              <a:t> &gt;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950" dirty="0" err="1">
                <a:solidFill>
                  <a:srgbClr val="A8FF78"/>
                </a:solidFill>
                <a:ea typeface="+mn-lt"/>
                <a:cs typeface="+mn-lt"/>
              </a:rPr>
              <a:t>kubectl</a:t>
            </a:r>
            <a:r>
              <a:rPr lang="en-US" sz="950" dirty="0">
                <a:solidFill>
                  <a:srgbClr val="A8FF78"/>
                </a:solidFill>
                <a:ea typeface="+mn-lt"/>
                <a:cs typeface="+mn-lt"/>
              </a:rPr>
              <a:t> exec -it &lt;pod&gt;-n &lt;ns&gt; -- </a:t>
            </a:r>
            <a:r>
              <a:rPr lang="en-US" sz="950" dirty="0" err="1">
                <a:solidFill>
                  <a:srgbClr val="A8FF78"/>
                </a:solidFill>
                <a:ea typeface="+mn-lt"/>
                <a:cs typeface="+mn-lt"/>
              </a:rPr>
              <a:t>sh</a:t>
            </a:r>
            <a:endParaRPr lang="en-US" dirty="0" err="1"/>
          </a:p>
          <a:p>
            <a:r>
              <a:rPr lang="en-US" sz="950" dirty="0">
                <a:solidFill>
                  <a:srgbClr val="A8FF78"/>
                </a:solidFill>
                <a:ea typeface="+mn-lt"/>
                <a:cs typeface="+mn-lt"/>
              </a:rPr>
              <a:t>cat /data/</a:t>
            </a:r>
            <a:r>
              <a:rPr lang="en-US" sz="950" dirty="0" err="1">
                <a:solidFill>
                  <a:srgbClr val="A8FF78"/>
                </a:solidFill>
                <a:ea typeface="+mn-lt"/>
                <a:cs typeface="+mn-lt"/>
              </a:rPr>
              <a:t>items.json</a:t>
            </a:r>
            <a:endParaRPr lang="en-US" dirty="0" err="1"/>
          </a:p>
          <a:p>
            <a:endParaRPr lang="en-US" sz="950" dirty="0">
              <a:solidFill>
                <a:srgbClr val="A8FF78"/>
              </a:solidFill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14800" cy="17830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60120"/>
            <a:ext cx="475488" cy="1783080"/>
          </a:xfrm>
          <a:prstGeom prst="rect">
            <a:avLst/>
          </a:prstGeom>
          <a:solidFill>
            <a:srgbClr val="FFD166">
              <a:alpha val="8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960120"/>
            <a:ext cx="47548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76088" y="1033272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hostPath — Node Data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276088" y="1399032"/>
            <a:ext cx="3456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/tmp/k8s-demo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hostpath-pod.yaml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exec hostpath-demo -- ls /host-data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Write on node, see in container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114800" cy="17830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80360"/>
            <a:ext cx="475488" cy="1783080"/>
          </a:xfrm>
          <a:prstGeom prst="rect">
            <a:avLst/>
          </a:prstGeom>
          <a:solidFill>
            <a:srgbClr val="06D6A0">
              <a:alpha val="8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880360"/>
            <a:ext cx="47548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2688" y="2953512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 — Config as File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32688" y="3319272"/>
            <a:ext cx="3456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configmap app-config \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--from-file=app.properties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configmap-pod.yaml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exec configmap-demo -- \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 /etc/config/app.properties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880360"/>
            <a:ext cx="4114800" cy="17830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880360"/>
            <a:ext cx="475488" cy="1783080"/>
          </a:xfrm>
          <a:prstGeom prst="rect">
            <a:avLst/>
          </a:prstGeom>
          <a:solidFill>
            <a:srgbClr val="FF6B35">
              <a:alpha val="8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880360"/>
            <a:ext cx="47548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76088" y="2953512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— Sensitive Data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276088" y="3319272"/>
            <a:ext cx="3456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secret generic db-secret \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--from-literal=db-password=mypass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secret-pod.yaml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exec secrets-demo -- \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 /etc/secrets/db-password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476402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Full YAML files available in the shared repo:  git.internal/k8s-kt-series/day1-volumes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 Storage - KT Day 1</dc:title>
  <dc:subject>PptxGenJS Presentation</dc:subject>
  <dc:creator>PptxGenJS</dc:creator>
  <cp:lastModifiedBy>PptxGenJS</cp:lastModifiedBy>
  <cp:revision>52</cp:revision>
  <dcterms:created xsi:type="dcterms:W3CDTF">2026-05-13T18:55:34Z</dcterms:created>
  <dcterms:modified xsi:type="dcterms:W3CDTF">2026-05-14T10:45:19Z</dcterms:modified>
</cp:coreProperties>
</file>