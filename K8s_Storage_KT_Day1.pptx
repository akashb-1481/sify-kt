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🐳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82880" y="21031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" y="3200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Transfer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8229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566160" y="15087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– Volumes, PV, PVC &amp; Storage Classes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566160" y="2011680"/>
            <a:ext cx="530352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19456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covers the foundations of storage in Kubernetes — from ephemeral volumes to persistent storage, PVCs, and Storage Classes. By the end, you will understand how data survives pod restarts and how to provision storage for real-world workloads.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3383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DevOps / Platform Team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3703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May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71220"/>
          </a:solidFill>
          <a:ln w="12700">
            <a:solidFill>
              <a:srgbClr val="0712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of 2  •  Next: Prometheus &amp; Grafana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– Day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– KT Day 1  |  Internal Training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0" y="4864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685800"/>
            <a:ext cx="8503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685800"/>
            <a:ext cx="347472" cy="3931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685800"/>
            <a:ext cx="347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72237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YAML?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722376"/>
            <a:ext cx="5394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Syntax, structure &amp; use in Kubernetes manifests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115568"/>
            <a:ext cx="8503920" cy="393192"/>
          </a:xfrm>
          <a:prstGeom prst="rect">
            <a:avLst/>
          </a:prstGeom>
          <a:solidFill>
            <a:srgbClr val="E3EEF9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115568"/>
            <a:ext cx="347472" cy="3931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115568"/>
            <a:ext cx="347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1152144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Volume?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152144"/>
            <a:ext cx="5394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vs. persistent storage concepts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1545336"/>
            <a:ext cx="8503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1545336"/>
            <a:ext cx="347472" cy="3931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545336"/>
            <a:ext cx="347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" y="1581912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Volumes?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1581912"/>
            <a:ext cx="5394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container-level storage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1975104"/>
            <a:ext cx="8503920" cy="393192"/>
          </a:xfrm>
          <a:prstGeom prst="rect">
            <a:avLst/>
          </a:prstGeom>
          <a:solidFill>
            <a:srgbClr val="E3EEF9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1975104"/>
            <a:ext cx="347472" cy="3931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1975104"/>
            <a:ext cx="347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" y="2011680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Architecture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37560" y="2011680"/>
            <a:ext cx="5394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overview of K8s storage stack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2404872"/>
            <a:ext cx="8503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404872"/>
            <a:ext cx="347472" cy="3931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404872"/>
            <a:ext cx="347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3232" y="2441448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Types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37560" y="2441448"/>
            <a:ext cx="5394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emptyDir • hostPath • ConfigMap • Secrets • NFS • CSI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2834640"/>
            <a:ext cx="8503920" cy="393192"/>
          </a:xfrm>
          <a:prstGeom prst="rect">
            <a:avLst/>
          </a:prstGeom>
          <a:solidFill>
            <a:srgbClr val="E3EEF9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834640"/>
            <a:ext cx="347472" cy="3931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834640"/>
            <a:ext cx="347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3232" y="287121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 (PV)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37560" y="2871216"/>
            <a:ext cx="5394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Admin-provisioned cluster-wide storage resource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3264408"/>
            <a:ext cx="8503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3264408"/>
            <a:ext cx="347472" cy="3931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264408"/>
            <a:ext cx="347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13232" y="3300984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PersistentVolumeClaim (PVC)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337560" y="3300984"/>
            <a:ext cx="5394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request to consume PV storage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" y="3694176"/>
            <a:ext cx="8503920" cy="393192"/>
          </a:xfrm>
          <a:prstGeom prst="rect">
            <a:avLst/>
          </a:prstGeom>
          <a:solidFill>
            <a:srgbClr val="E3EEF9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3694176"/>
            <a:ext cx="347472" cy="3931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3694176"/>
            <a:ext cx="347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13232" y="3730752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Classes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337560" y="3730752"/>
            <a:ext cx="5394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provisioning &amp; reclaim policies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0040" y="4123944"/>
            <a:ext cx="8503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4123944"/>
            <a:ext cx="347472" cy="3931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123944"/>
            <a:ext cx="347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13232" y="4160520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Setup &amp; Live Demo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337560" y="4160520"/>
            <a:ext cx="5394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walkthrough on the cluster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YAML?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Another Markup Language — the backbone of Kubernetes configuration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– KT Day 1  |  Internal Training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864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54864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325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Human-readable: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5361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indentation (2 spaces) instead of braces or tags.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810512"/>
            <a:ext cx="54864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Pairs: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20208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is written as key: value on each line.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295144"/>
            <a:ext cx="54864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295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Lists: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25054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start with a dash  –  (hyphen + space).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779776"/>
            <a:ext cx="54864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779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Objects: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" y="29900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creates hierarchy and child objects.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264408"/>
            <a:ext cx="54864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264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/ Numbers: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34747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quotes needed unless special chars are present.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54864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Comments: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" y="39593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starting with # are ignored by the parser.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868680"/>
            <a:ext cx="4297680" cy="379476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0" y="914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YAML – K8s Pod Manifest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1261872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v1
</a:t>
            </a:r>
            <a:pPr indent="0" marL="0">
              <a:buNone/>
            </a:pPr>
            <a:r>
              <a:rPr lang="en-US" sz="1100" b="1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Pod
</a:t>
            </a:r>
            <a:pPr indent="0" marL="0">
              <a:buNone/>
            </a:pPr>
            <a:r>
              <a:rPr lang="en-US" sz="1100" b="1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100" b="1" dirty="0">
                <a:solidFill>
                  <a:srgbClr val="B5EA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my-pod
</a:t>
            </a:r>
            <a:pPr indent="0" marL="0">
              <a:buNone/>
            </a:pPr>
            <a:r>
              <a:rPr lang="en-US" sz="1100" b="1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100" b="1" dirty="0">
                <a:solidFill>
                  <a:srgbClr val="B5EA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100" b="1" dirty="0">
                <a:solidFill>
                  <a:srgbClr val="B5EA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nginx
</a:t>
            </a:r>
            <a:pPr indent="0" marL="0">
              <a:buNone/>
            </a:pPr>
            <a:r>
              <a:rPr lang="en-US" sz="1100" b="1" dirty="0">
                <a:solidFill>
                  <a:srgbClr val="B5EA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nginx:latest
</a:t>
            </a:r>
            <a:pPr indent="0" marL="0">
              <a:buNone/>
            </a:pPr>
            <a:r>
              <a:rPr lang="en-US" sz="1100" b="1" dirty="0">
                <a:solidFill>
                  <a:srgbClr val="B5EA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
</a:t>
            </a:r>
            <a:pPr indent="0" marL="0">
              <a:buNone/>
            </a:pPr>
            <a:r>
              <a:rPr lang="en-US" sz="1100" b="1" dirty="0">
                <a:solidFill>
                  <a:srgbClr val="B5EA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containerPort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80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Volume?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storage that outlives a single container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– KT Day 1  |  Internal Training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864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solidFill>
            <a:srgbClr val="FFF8E1"/>
          </a:solidFill>
          <a:ln w="19050">
            <a:solidFill>
              <a:srgbClr val="FFD5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046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Analogy: Think of a Volume like a USB drive plugged into a laptop. When the laptop (container) restarts, the USB drive (volume) and its data remain intact.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81328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81328"/>
            <a:ext cx="2743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087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Definition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" y="1993392"/>
            <a:ext cx="252374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Volume is a directory accessible to containers in a Pod. It is defined in the Pod spec and mounted into one or more containers at specified paths.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72968" y="1481328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481328"/>
            <a:ext cx="2743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15087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Lifecycle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82696" y="1993392"/>
            <a:ext cx="252374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lifetime is tied to the Pod — not the container. When a container crashes and restarts, its volume data persists. When the Pod is deleted, ephemeral volumes are removed.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71616" y="1481328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481328"/>
            <a:ext cx="2743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5087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Key Properties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81344" y="1993392"/>
            <a:ext cx="252374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Shareable across containers in a Pod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Supports many backend drivers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Mounted at container-level paths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Defined declaratively in YAML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Volumes?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ephemeral storage problem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– KT Day 1  |  Internal Training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864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3977640" cy="3474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7315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152144"/>
            <a:ext cx="3977640" cy="457200"/>
          </a:xfrm>
          <a:prstGeom prst="rect">
            <a:avLst/>
          </a:prstGeom>
          <a:solidFill>
            <a:srgbClr val="1A0000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188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Container filesystem is ephemeral — deleted on restart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700784"/>
            <a:ext cx="3977640" cy="457200"/>
          </a:xfrm>
          <a:prstGeom prst="rect">
            <a:avLst/>
          </a:prstGeom>
          <a:solidFill>
            <a:srgbClr val="1A0000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7373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Logs, DB data, uploads are lost when a Pod crashes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49424"/>
            <a:ext cx="3977640" cy="457200"/>
          </a:xfrm>
          <a:prstGeom prst="rect">
            <a:avLst/>
          </a:prstGeom>
          <a:solidFill>
            <a:srgbClr val="1A0000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86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Containers in the same Pod cannot share files easily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798064"/>
            <a:ext cx="3977640" cy="457200"/>
          </a:xfrm>
          <a:prstGeom prst="rect">
            <a:avLst/>
          </a:prstGeom>
          <a:solidFill>
            <a:srgbClr val="1A0000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346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way to inject configs or secrets without volumes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1280160"/>
            <a:ext cx="0" cy="256032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CD4"/>
                </a:solidFill>
              </a:rPr>
              <a:t>➤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731520"/>
            <a:ext cx="4160520" cy="34747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7315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Solution – Kubernetes Volumes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152144"/>
            <a:ext cx="4160520" cy="457200"/>
          </a:xfrm>
          <a:prstGeom prst="rect">
            <a:avLst/>
          </a:prstGeom>
          <a:solidFill>
            <a:srgbClr val="00150A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188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persists across container restarts within a Pod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700784"/>
            <a:ext cx="4160520" cy="457200"/>
          </a:xfrm>
          <a:prstGeom prst="rect">
            <a:avLst/>
          </a:prstGeom>
          <a:solidFill>
            <a:srgbClr val="00150A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7373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Databases &amp; stateful apps retain data reliably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249424"/>
            <a:ext cx="4160520" cy="457200"/>
          </a:xfrm>
          <a:prstGeom prst="rect">
            <a:avLst/>
          </a:prstGeom>
          <a:solidFill>
            <a:srgbClr val="00150A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286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Shared volumes enable sidecar and multi-container patterns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798064"/>
            <a:ext cx="4160520" cy="457200"/>
          </a:xfrm>
          <a:prstGeom prst="rect">
            <a:avLst/>
          </a:prstGeom>
          <a:solidFill>
            <a:srgbClr val="00150A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8346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ConfigMap &amp; Secret volumes inject config securely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429000"/>
            <a:ext cx="8595360" cy="1261872"/>
          </a:xfrm>
          <a:prstGeom prst="rect">
            <a:avLst/>
          </a:prstGeom>
          <a:solidFill>
            <a:srgbClr val="0A1929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493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Volumes decouple storage from container lifecycle. They allow stateful applications — databases, caches, message queues — to run reliably inside containers without losing critical data on restarts or rescheduling.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three-layer abstraction model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– KT Day 1  |  Internal Training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864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822960"/>
            <a:ext cx="640080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63040" y="89611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23444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 →  PersistentVolumeClaim (PVC)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1920240"/>
            <a:ext cx="6400800" cy="8686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63040" y="199339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3317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 (PV)  +  StorageClass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3017520"/>
            <a:ext cx="64008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63040" y="309067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42900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/ Cloud Storage (NFS, EBS, GCE PD, Ceph…)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1691640"/>
            <a:ext cx="0" cy="228600"/>
          </a:xfrm>
          <a:prstGeom prst="line">
            <a:avLst/>
          </a:prstGeom>
          <a:noFill/>
          <a:ln w="3175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176479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CD4"/>
                </a:solidFill>
              </a:rPr>
              <a:t>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80560" y="2788920"/>
            <a:ext cx="0" cy="228600"/>
          </a:xfrm>
          <a:prstGeom prst="line">
            <a:avLst/>
          </a:prstGeom>
          <a:noFill/>
          <a:ln w="3175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28620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CD4"/>
                </a:solidFill>
              </a:rPr>
              <a:t>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63840" y="18288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Provisioning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(StorageClass)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863840" y="25603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Provisioning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 creates PV)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859536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599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Binding: Kubernetes matches a PVC to a suitable PV automatically. If no matching PV exists and a StorageClass is set, a new PV is dynamically provisioned on demand.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Types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built-in and external volume plugins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– KT Day 1  |  Internal Training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864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777240"/>
            <a:ext cx="2788920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777240"/>
            <a:ext cx="278892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1381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emptyDir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1216152"/>
            <a:ext cx="2606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dir shared among containers in a Pod; erased when Pod ends.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82112" y="777240"/>
            <a:ext cx="2788920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777240"/>
            <a:ext cx="2788920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81381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hostPath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73552" y="1216152"/>
            <a:ext cx="2606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Mounts a file or directory from the host node's filesystem into the Pod.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08192" y="777240"/>
            <a:ext cx="2788920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08192" y="777240"/>
            <a:ext cx="278892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81381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configMap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9632" y="1216152"/>
            <a:ext cx="2606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ConfigMap keys as files or env variables into the container.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2697480"/>
            <a:ext cx="2788920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697480"/>
            <a:ext cx="2788920" cy="3657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7340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" y="3136392"/>
            <a:ext cx="2606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Mounts Kubernetes Secrets (base64) as files into the container.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82112" y="2697480"/>
            <a:ext cx="2788920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82112" y="2697480"/>
            <a:ext cx="2788920" cy="365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73552" y="27340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73552" y="3136392"/>
            <a:ext cx="2606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Mounts a Network File System share; survives Pod deletion.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08192" y="2697480"/>
            <a:ext cx="2788920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880E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08192" y="2697480"/>
            <a:ext cx="2788920" cy="36576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27340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99632" y="3136392"/>
            <a:ext cx="2606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Storage Interface — driver-based plugin for cloud &amp; enterprise storage.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4320" y="46634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slides follow for each volume type →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Type: emptyDir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— Ephemeral shared scratch space for Pod containers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– KT Day 1  |  Internal Training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864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315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emptyDir?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emptyDir volume is created fresh when a Pod is assigned to a node. All containers in the Pod share it. It is deleted permanently when the Pod is removed from the node.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554480"/>
            <a:ext cx="2606040" cy="1645920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64592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Use Cases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1965960"/>
            <a:ext cx="2386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Scratch space for sorting algorithms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Caching computation results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Sharing files between sidecar containers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Temporary log aggregation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63240" y="1554480"/>
            <a:ext cx="2606040" cy="1645920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72968" y="164592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 Characteristics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72968" y="1965960"/>
            <a:ext cx="2386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Exists as long as the Pod is running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Empty on Pod start (every time)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be backed by RAM (medium: Memory)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data persistence across Pod restarts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0" y="1554480"/>
            <a:ext cx="2971800" cy="1645920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61888" y="164592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61888" y="1965960"/>
            <a:ext cx="2752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lost when Pod is deleted/evicted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suitable for databases or stateful apps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Size not limited by default (use sizeLimit)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 only within the same Pod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310128"/>
            <a:ext cx="859536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55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 Example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639312"/>
            <a:ext cx="8321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cache-vol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emptyDir: {}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mountPath: /cache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cache-vol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Type: hostPath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— Mounting host node filesystem into a Pod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– KT Day 1  |  Internal Training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864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1323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Mounts a file or directory from the host node's filesystem directly into the Pod. Useful for accessing host-level resources, but comes with significant security implications.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2651760" cy="1828800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" y="137160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Common Uses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691640"/>
            <a:ext cx="24323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Docker socket (/var/run/docker.sock)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 node logs (/var/log)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hardware / device files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DaemonSet node monitoring agents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63240" y="1280160"/>
            <a:ext cx="2651760" cy="1828800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72968" y="137160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type Options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1691640"/>
            <a:ext cx="24323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DirectoryOrCreate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FileOrCreate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Socket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BlockDevice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52160" y="1280160"/>
            <a:ext cx="2971800" cy="1828800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61888" y="137160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 Risks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61888" y="1691640"/>
            <a:ext cx="2752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Pod can read/write host files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safe in multi-tenant clusters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tied to a specific node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Avoid in production workloads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218688"/>
            <a:ext cx="859536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64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 Example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547872"/>
            <a:ext cx="8321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host-log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hostPath: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path: /var/log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type: Directory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logger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mountPath: /host-logs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host-log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Type: ConfigMap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7c — Injecting configuration data into Pods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– KT Day 1  |  Internal Training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864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1323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ConfigMap volume allows you to inject configuration data stored in a Kubernetes ConfigMap as files inside a container. Each key in the ConfigMap becomes a file, and its value is the file content.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4069080" cy="1783080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" y="1371600"/>
            <a:ext cx="3849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Why ConfigMap volumes?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691640"/>
            <a:ext cx="3849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Decouple config from container images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Change config without rebuilding images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Mount app config files (nginx.conf, app.properties)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Inject feature flags, environment settings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config live (with some limits)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26280" y="1280160"/>
            <a:ext cx="4297680" cy="1783080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36008" y="1371600"/>
            <a:ext cx="4078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Important Notes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36008" y="1691640"/>
            <a:ext cx="4078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Read-only by default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Changes to ConfigMap may not auto-refresh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for sensitive data — use Secrets instead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project specific keys with items: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8595360" cy="1572768"/>
          </a:xfrm>
          <a:prstGeom prst="rect">
            <a:avLst/>
          </a:prstGeom>
          <a:solidFill>
            <a:srgbClr val="0D1117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 Example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493008"/>
            <a:ext cx="8321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app-config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configMap: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my-configmap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web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mountPath: /etc/config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app-config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Type: Secrets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 — Securely inject sensitive data into Pods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– KT Day 1  |  Internal Training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864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13232"/>
            <a:ext cx="859536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74066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Secrets store sensitive data (passwords, tokens, TLS certs). They are base64-encoded in etcd. Mount them as volumes or environment variables — never hardcode them in images.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325880"/>
            <a:ext cx="2651760" cy="1874520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41732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Common Secret Types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1737360"/>
            <a:ext cx="2432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Opaque (generic key-value)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kubernetes.io/tls (TLS cert + key)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kubernetes.io/dockerconfigjson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kubernetes.io/service-account-token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bootstrap.kubernetes.io/token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63240" y="1325880"/>
            <a:ext cx="2651760" cy="1874520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72968" y="141732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Volume Mount Behavior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72968" y="1737360"/>
            <a:ext cx="2432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key = one file in the mount path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Stored in tmpfs (RAM), not disk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Auto-updated when Secret changes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project specific keys with items: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Default permissions: 0644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0" y="1325880"/>
            <a:ext cx="2971800" cy="1874520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61888" y="141732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Best Practices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61888" y="1737360"/>
            <a:ext cx="2752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encryption at rest in etcd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RBAC to restrict access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Prefer external vaults (HashiCorp Vault)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Rotate secrets regularly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commit to source control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310128"/>
            <a:ext cx="859536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55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 Example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639312"/>
            <a:ext cx="8321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db-secret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secret: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secretName: my-db-secret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mountPath: /etc/secrets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db-secret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readOnly: true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Type: NFS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7e — Network File System shared storage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– KT Day 1  |  Internal Training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864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13232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volumes allow a Pod to mount an existing NFS share. NFS storage persists beyond Pod deletion and can be shared (ReadWriteMany) across multiple Pods simultaneously — a key advantage over most block storage.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2651760" cy="1828800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" y="138988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Advantages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709928"/>
            <a:ext cx="24323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ReadWriteMany — many Pods share one mount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persists after Pod deletion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across nodes and clusters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Suitable for shared logs, media, artifacts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cloud vendor lock-in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63240" y="1298448"/>
            <a:ext cx="2651760" cy="1828800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72968" y="138988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Prerequisites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1709928"/>
            <a:ext cx="24323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NFS server running and accessible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nfs-utils installed on all nodes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Firewall allows NFS port (2049)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Stable network between nodes and NFS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 export rules on server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52160" y="1298448"/>
            <a:ext cx="2971800" cy="1828800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61888" y="1389888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61888" y="1709928"/>
            <a:ext cx="2752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built-in encryption in transit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point of failure if server goes down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lower than block storage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NFS server maintenance needed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236976"/>
            <a:ext cx="8595360" cy="1490472"/>
          </a:xfrm>
          <a:prstGeom prst="rect">
            <a:avLst/>
          </a:prstGeom>
          <a:solidFill>
            <a:srgbClr val="0D1117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82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 Example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584448"/>
            <a:ext cx="83210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nfs-share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nfs: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server: 192.168.1.100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path: /exports/data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mountPath: /data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nfs-share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Type: CSI Storage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7f — Container Storage Interface — the modern standard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– KT Day 1  |  Internal Training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864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13232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(Container Storage Interface) is the industry standard that allows any storage vendor to develop a plugin once and have it work across Kubernetes, Mesos, and other orchestrators. It replaced the old in-tree volume plugins.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325880"/>
            <a:ext cx="73152" cy="5303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3624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EBS CSI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" y="16002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Block Store — block storage for AWS EKS workloads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32588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325880"/>
            <a:ext cx="73152" cy="5303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024" y="13624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GCE PD CSI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64024" y="16002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Persistent Disk — GKE block storage driver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947672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1947672"/>
            <a:ext cx="73152" cy="5303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198424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Disk CSI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" y="22219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managed disk for AKS clusters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1947672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1947672"/>
            <a:ext cx="73152" cy="5303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4024" y="198424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RBD CSI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64024" y="22219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block device for on-prem clusters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569464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569464"/>
            <a:ext cx="73152" cy="5303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260604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Longhorn CSI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0624" y="284378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distributed block storage for K8s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2569464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2569464"/>
            <a:ext cx="73152" cy="5303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64024" y="260604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OpenEBS CSI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64024" y="284378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Container-native storage for Kubernetes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246120"/>
            <a:ext cx="8595360" cy="1481328"/>
          </a:xfrm>
          <a:prstGeom prst="rect">
            <a:avLst/>
          </a:prstGeom>
          <a:solidFill>
            <a:srgbClr val="0D1117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291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 Example – CSI PVC with StorageClass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584448"/>
            <a:ext cx="8321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PersistentVolumeClaim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storageClassName: ebs-sc   # CSI StorageClass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accessModes: [ReadWriteOnce]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storage: 10Gi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 (PV)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Cluster-wide storage resource provisioned by administrators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– KT Day 1  |  Internal Training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864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4980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PersistentVolume is a piece of storage in the cluster provisioned by an administrator or dynamically via a StorageClass. It has a lifecycle independent of any Pod that uses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298448"/>
            <a:ext cx="4160520" cy="621792"/>
          </a:xfrm>
          <a:prstGeom prst="rect">
            <a:avLst/>
          </a:prstGeom>
          <a:solidFill>
            <a:srgbClr val="102A42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53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15910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storage size (e.g., 10Gi)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26864" y="1298448"/>
            <a:ext cx="4160520" cy="621792"/>
          </a:xfrm>
          <a:prstGeom prst="rect">
            <a:avLst/>
          </a:prstGeom>
          <a:solidFill>
            <a:srgbClr val="102A42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353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Modes: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36592" y="15910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RWO (ReadWriteOnce) · ROX (ReadOnlyMany) · RWX (ReadWriteMany)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" y="2002536"/>
            <a:ext cx="4160520" cy="621792"/>
          </a:xfrm>
          <a:prstGeom prst="rect">
            <a:avLst/>
          </a:prstGeom>
          <a:solidFill>
            <a:srgbClr val="102A42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574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 Policy: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22951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· Delete · Recycle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26864" y="2002536"/>
            <a:ext cx="4160520" cy="621792"/>
          </a:xfrm>
          <a:prstGeom prst="rect">
            <a:avLst/>
          </a:prstGeom>
          <a:solidFill>
            <a:srgbClr val="102A42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0574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Mode: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36592" y="22951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(default) or Block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2706624"/>
            <a:ext cx="4160520" cy="621792"/>
          </a:xfrm>
          <a:prstGeom prst="rect">
            <a:avLst/>
          </a:prstGeom>
          <a:solidFill>
            <a:srgbClr val="102A42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614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Class: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29992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PV to a StorageClass for binding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26864" y="2706624"/>
            <a:ext cx="4160520" cy="621792"/>
          </a:xfrm>
          <a:prstGeom prst="rect">
            <a:avLst/>
          </a:prstGeom>
          <a:solidFill>
            <a:srgbClr val="102A42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27614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Phases: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36592" y="29992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→ Bound → Released → Failed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502152"/>
            <a:ext cx="8595360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547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 – Static PV Example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822192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PersistentVolume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my-pv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capacity: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storage: 5Gi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accessModes: [ReadWriteOnce]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persistentVolumeReclaimPolicy: Retain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hostPath: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path: /mnt/data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PersistentVolumeClaim (PVC)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request for storage — the user-facing API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– KT Day 1  |  Internal Training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864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1323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PVC is how a Pod requests storage. Like a Pod consuming CPU/Memory, a PVC consumes PV resources. Kubernetes binds the PVC to a matching PV automatically.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2344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1417320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D8B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93392" y="123444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2344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10712" y="1417320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D8B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12464" y="123444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2464" y="12344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9784" y="1417320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D8B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31536" y="123444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12344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48856" y="1417320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D8B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50608" y="123444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12344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029968"/>
            <a:ext cx="2651760" cy="1572768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" y="212140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PVC Spec Fields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2441448"/>
            <a:ext cx="24323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accessModes: [ReadWriteOnce]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resources.requests.storage: 10Gi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storageClassName: fast-ssd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volumeMode: Filesystem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63240" y="2029968"/>
            <a:ext cx="2651760" cy="1572768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172968" y="212140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Binding Rules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72968" y="2441448"/>
            <a:ext cx="24323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PVC binds to PV with matching capacity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modes must be compatible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StorageClass name must match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PVC binds to exactly one PV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52160" y="2029968"/>
            <a:ext cx="2971800" cy="1572768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61888" y="2121408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PVC Lifecycle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61888" y="2441448"/>
            <a:ext cx="275234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Pending → Bound → Released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Deleted PVC frees PV (per policy)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PVC by editing storage size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PVC is namespace-scoped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721608"/>
            <a:ext cx="859536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767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 – PVC Example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04164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PersistentVolumeClaim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my-pvc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accessModes: [ReadWriteOnce]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storageClassName: standard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storage: 10Gi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provisioning — storage on demand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– KT Day 1  |  Internal Training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864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4980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StorageClass is a template that enables dynamic provisioning. When a PVC references a StorageClass, Kubernetes automatically creates a matching PV — no admin intervention needed.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2606040" cy="1664208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" y="1389888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Key Fields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709928"/>
            <a:ext cx="238658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provisioner: driver 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parameters: driver-specific config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reclaimPolicy: Retain | Delete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volumeBindingMode: Immediate | WaitForFirstConsumer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allowVolumeExpansion: true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63240" y="1298448"/>
            <a:ext cx="2606040" cy="1664208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72968" y="1389888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Provisioners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1709928"/>
            <a:ext cx="238658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kubernetes.io/aws-ebs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kubernetes.io/gce-pd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kubernetes.io/azure-disk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driver.longhorn.io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rook.io/block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ebs.csi.aws.com (CSI)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52160" y="1298448"/>
            <a:ext cx="2971800" cy="1664208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61888" y="1389888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Benefits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61888" y="1709928"/>
            <a:ext cx="27523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manual PV creation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Self-service storage for developers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Consistent provisioning policies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Supports multiple tiers (SSD, HDD)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Integrates with cloud providers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090672"/>
            <a:ext cx="8595360" cy="1645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36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 – StorageClass + PVC Example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410712"/>
            <a:ext cx="8321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StorageClass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storage.k8s.io/v1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StorageClass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fast-ssd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provisioner: ebs.csi.aws.com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gp3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reclaimPolicy: Delete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allowVolumeExpansion: 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PVC using the StorageClass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storageClassName: fast-ssd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storage: 20Gi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Demo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cluster topology used for today's hands-on demo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– KT Day 1  |  Internal Training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864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2011680" cy="1417320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8412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Cluster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161288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/ k3s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Single-node local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v1.29+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runtime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23160" y="749808"/>
            <a:ext cx="2011680" cy="1417320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32888" y="8412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Storage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32888" y="1161288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hostPath (local)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server (VM)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Longhorn CSI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local-path provisioner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749808"/>
            <a:ext cx="2011680" cy="1417320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81728" y="8412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Tools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1161288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k9s dashboard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v3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kubectl-neat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20840" y="749808"/>
            <a:ext cx="2103120" cy="1417320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30568" y="841248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Monitoring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30568" y="116128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 2 session)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304288"/>
            <a:ext cx="8595360" cy="2423160"/>
          </a:xfrm>
          <a:prstGeom prst="rect">
            <a:avLst/>
          </a:prstGeom>
          <a:solidFill>
            <a:srgbClr val="102A42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Architecture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15544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/ CLI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11680" y="28529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0" y="2743200"/>
            <a:ext cx="164592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2743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API Server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31920" y="28529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06240" y="2743200"/>
            <a:ext cx="1554480" cy="5029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0" y="28529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0" y="2743200"/>
            <a:ext cx="1280160" cy="5029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743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/ PVC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28529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06640" y="2743200"/>
            <a:ext cx="1280160" cy="50292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6640" y="2743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/ Pod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3832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apply YAML → PVC created → StorageClass provisions PV → Pod mounts volume → verify data persistence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37947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your specific node IPs, cluster name, NFS server IP, etc. here ]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Volumes, PV, PVC, and StorageClass in action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– KT Day 1  |  Internal Training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864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2816352" cy="1783080"/>
          </a:xfrm>
          <a:prstGeom prst="rect">
            <a:avLst/>
          </a:prstGeom>
          <a:solidFill>
            <a:srgbClr val="102A42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749808"/>
            <a:ext cx="2816352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78638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52144" y="7863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emptyDir Share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1207008"/>
            <a:ext cx="2633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Pod with two containers sharing an emptyDir volume. Write from one, read from the other.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9544" y="749808"/>
            <a:ext cx="2816352" cy="1783080"/>
          </a:xfrm>
          <a:prstGeom prst="rect">
            <a:avLst/>
          </a:prstGeom>
          <a:solidFill>
            <a:srgbClr val="102A42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9544" y="749808"/>
            <a:ext cx="2816352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00984" y="78638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05656" y="7863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hostPath Mount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00984" y="1207008"/>
            <a:ext cx="2633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host /tmp directory. Write a file from inside the Pod and verify it on the node.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749808"/>
            <a:ext cx="2816352" cy="1783080"/>
          </a:xfrm>
          <a:prstGeom prst="rect">
            <a:avLst/>
          </a:prstGeom>
          <a:solidFill>
            <a:srgbClr val="102A42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749808"/>
            <a:ext cx="2816352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78638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59168" y="7863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as Volume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4496" y="1207008"/>
            <a:ext cx="2633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ConfigMap with an app config file. Mount it into an nginx Pod and verify serving.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2670048"/>
            <a:ext cx="2816352" cy="1783080"/>
          </a:xfrm>
          <a:prstGeom prst="rect">
            <a:avLst/>
          </a:prstGeom>
          <a:solidFill>
            <a:srgbClr val="102A42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670048"/>
            <a:ext cx="2816352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70662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52144" y="27066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Volume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" y="3127248"/>
            <a:ext cx="2633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TLS Secret and mount the cert/key into a Pod. Verify files appear at the mount path.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9544" y="2670048"/>
            <a:ext cx="2816352" cy="1783080"/>
          </a:xfrm>
          <a:prstGeom prst="rect">
            <a:avLst/>
          </a:prstGeom>
          <a:solidFill>
            <a:srgbClr val="102A42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9544" y="2670048"/>
            <a:ext cx="2816352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00984" y="270662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05656" y="27066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Persistent Volume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00984" y="3127248"/>
            <a:ext cx="2633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PV backed by NFS. Create a PVC, mount to a Pod, write data, delete Pod, create new Pod — data persists.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63056" y="2670048"/>
            <a:ext cx="2816352" cy="1783080"/>
          </a:xfrm>
          <a:prstGeom prst="rect">
            <a:avLst/>
          </a:prstGeom>
          <a:solidFill>
            <a:srgbClr val="102A42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63056" y="2670048"/>
            <a:ext cx="2816352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270662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59168" y="27066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Provisioning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54496" y="3127248"/>
            <a:ext cx="2633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StorageClass with local-path. Submit a PVC and watch Kubernetes auto-create the PV.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" y="4617720"/>
            <a:ext cx="8631936" cy="274320"/>
          </a:xfrm>
          <a:prstGeom prst="rect">
            <a:avLst/>
          </a:prstGeom>
          <a:solidFill>
            <a:srgbClr val="071220"/>
          </a:solidFill>
          <a:ln w="12700">
            <a:solidFill>
              <a:srgbClr val="0712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64515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Questions during demo? Pause and ask — each demo builds on the previous one.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Storage - KT Day 1</dc:title>
  <dc:subject>PptxGenJS Presentation</dc:subject>
  <dc:creator>PptxGenJS</dc:creator>
  <cp:lastModifiedBy>PptxGenJS</cp:lastModifiedBy>
  <cp:revision>1</cp:revision>
  <dcterms:created xsi:type="dcterms:W3CDTF">2026-05-13T18:37:48Z</dcterms:created>
  <dcterms:modified xsi:type="dcterms:W3CDTF">2026-05-13T18:37:48Z</dcterms:modified>
</cp:coreProperties>
</file>