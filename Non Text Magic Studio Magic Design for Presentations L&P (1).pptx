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Canva Sans Display" charset="1" panose="020B0805030501040104"/>
      <p:regular r:id="rId22"/>
    </p:embeddedFont>
    <p:embeddedFont>
      <p:font typeface="Neo Tech Bold" charset="1" panose="020B0804030504040204"/>
      <p:regular r:id="rId23"/>
    </p:embeddedFont>
    <p:embeddedFont>
      <p:font typeface="Koho Bold" charset="1" panose="00000800000000000000"/>
      <p:regular r:id="rId24"/>
    </p:embeddedFont>
    <p:embeddedFont>
      <p:font typeface="Koho" charset="1" panose="000005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gif"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2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01" r="0" b="-16601"/>
            </a:stretch>
          </a:blipFill>
        </p:spPr>
      </p:sp>
      <p:grpSp>
        <p:nvGrpSpPr>
          <p:cNvPr name="Group 3" id="3"/>
          <p:cNvGrpSpPr/>
          <p:nvPr/>
        </p:nvGrpSpPr>
        <p:grpSpPr>
          <a:xfrm rot="0">
            <a:off x="666750" y="3397695"/>
            <a:ext cx="4655478" cy="3491609"/>
            <a:chOff x="0" y="0"/>
            <a:chExt cx="2621923" cy="1966442"/>
          </a:xfrm>
        </p:grpSpPr>
        <p:sp>
          <p:nvSpPr>
            <p:cNvPr name="Freeform 4" id="4"/>
            <p:cNvSpPr/>
            <p:nvPr/>
          </p:nvSpPr>
          <p:spPr>
            <a:xfrm flipH="false" flipV="false" rot="0">
              <a:off x="0" y="0"/>
              <a:ext cx="2621923" cy="1966442"/>
            </a:xfrm>
            <a:custGeom>
              <a:avLst/>
              <a:gdLst/>
              <a:ahLst/>
              <a:cxnLst/>
              <a:rect r="r" b="b" t="t" l="l"/>
              <a:pathLst>
                <a:path h="1966442" w="2621923">
                  <a:moveTo>
                    <a:pt x="26608" y="0"/>
                  </a:moveTo>
                  <a:lnTo>
                    <a:pt x="2595315" y="0"/>
                  </a:lnTo>
                  <a:cubicBezTo>
                    <a:pt x="2610010" y="0"/>
                    <a:pt x="2621923" y="11913"/>
                    <a:pt x="2621923" y="26608"/>
                  </a:cubicBezTo>
                  <a:lnTo>
                    <a:pt x="2621923" y="1939835"/>
                  </a:lnTo>
                  <a:cubicBezTo>
                    <a:pt x="2621923" y="1946892"/>
                    <a:pt x="2619119" y="1953659"/>
                    <a:pt x="2614129" y="1958649"/>
                  </a:cubicBezTo>
                  <a:cubicBezTo>
                    <a:pt x="2609140" y="1963639"/>
                    <a:pt x="2602372" y="1966442"/>
                    <a:pt x="2595315" y="1966442"/>
                  </a:cubicBezTo>
                  <a:lnTo>
                    <a:pt x="26608" y="1966442"/>
                  </a:lnTo>
                  <a:cubicBezTo>
                    <a:pt x="11913" y="1966442"/>
                    <a:pt x="0" y="1954530"/>
                    <a:pt x="0" y="1939835"/>
                  </a:cubicBezTo>
                  <a:lnTo>
                    <a:pt x="0" y="26608"/>
                  </a:lnTo>
                  <a:cubicBezTo>
                    <a:pt x="0" y="11913"/>
                    <a:pt x="11913" y="0"/>
                    <a:pt x="26608" y="0"/>
                  </a:cubicBezTo>
                  <a:close/>
                </a:path>
              </a:pathLst>
            </a:custGeom>
            <a:solidFill>
              <a:srgbClr val="18191B"/>
            </a:solidFill>
          </p:spPr>
        </p:sp>
        <p:sp>
          <p:nvSpPr>
            <p:cNvPr name="TextBox 5" id="5"/>
            <p:cNvSpPr txBox="true"/>
            <p:nvPr/>
          </p:nvSpPr>
          <p:spPr>
            <a:xfrm>
              <a:off x="0" y="38100"/>
              <a:ext cx="2621923" cy="1928342"/>
            </a:xfrm>
            <a:prstGeom prst="rect">
              <a:avLst/>
            </a:prstGeom>
          </p:spPr>
          <p:txBody>
            <a:bodyPr anchor="ctr" rtlCol="false" tIns="50800" lIns="50800" bIns="50800" rIns="50800"/>
            <a:lstStyle/>
            <a:p>
              <a:pPr algn="ctr">
                <a:lnSpc>
                  <a:spcPts val="1320"/>
                </a:lnSpc>
              </a:pPr>
            </a:p>
          </p:txBody>
        </p:sp>
      </p:grpSp>
      <p:sp>
        <p:nvSpPr>
          <p:cNvPr name="Freeform 6" id="6"/>
          <p:cNvSpPr/>
          <p:nvPr/>
        </p:nvSpPr>
        <p:spPr>
          <a:xfrm flipH="false" flipV="false" rot="0">
            <a:off x="1912790" y="4104919"/>
            <a:ext cx="2077162" cy="2077162"/>
          </a:xfrm>
          <a:custGeom>
            <a:avLst/>
            <a:gdLst/>
            <a:ahLst/>
            <a:cxnLst/>
            <a:rect r="r" b="b" t="t" l="l"/>
            <a:pathLst>
              <a:path h="2077162" w="2077162">
                <a:moveTo>
                  <a:pt x="0" y="0"/>
                </a:moveTo>
                <a:lnTo>
                  <a:pt x="2077162" y="0"/>
                </a:lnTo>
                <a:lnTo>
                  <a:pt x="2077162" y="2077162"/>
                </a:lnTo>
                <a:lnTo>
                  <a:pt x="0" y="2077162"/>
                </a:lnTo>
                <a:lnTo>
                  <a:pt x="0" y="0"/>
                </a:lnTo>
                <a:close/>
              </a:path>
            </a:pathLst>
          </a:custGeom>
          <a:blipFill>
            <a:blip r:embed="rId3"/>
            <a:stretch>
              <a:fillRect l="0" t="0" r="0" b="0"/>
            </a:stretch>
          </a:blipFill>
        </p:spPr>
      </p:sp>
      <p:sp>
        <p:nvSpPr>
          <p:cNvPr name="Freeform 7" id="7"/>
          <p:cNvSpPr/>
          <p:nvPr/>
        </p:nvSpPr>
        <p:spPr>
          <a:xfrm flipH="false" flipV="false" rot="0">
            <a:off x="1912790" y="4104919"/>
            <a:ext cx="2077162" cy="2077162"/>
          </a:xfrm>
          <a:custGeom>
            <a:avLst/>
            <a:gdLst/>
            <a:ahLst/>
            <a:cxnLst/>
            <a:rect r="r" b="b" t="t" l="l"/>
            <a:pathLst>
              <a:path h="2077162" w="2077162">
                <a:moveTo>
                  <a:pt x="0" y="0"/>
                </a:moveTo>
                <a:lnTo>
                  <a:pt x="2077162" y="0"/>
                </a:lnTo>
                <a:lnTo>
                  <a:pt x="2077162" y="2077162"/>
                </a:lnTo>
                <a:lnTo>
                  <a:pt x="0" y="2077162"/>
                </a:lnTo>
                <a:lnTo>
                  <a:pt x="0" y="0"/>
                </a:lnTo>
                <a:close/>
              </a:path>
            </a:pathLst>
          </a:custGeom>
          <a:blipFill>
            <a:blip r:embed="rId3"/>
            <a:stretch>
              <a:fillRect l="0" t="0" r="0" b="0"/>
            </a:stretch>
          </a:blipFill>
        </p:spPr>
      </p:sp>
      <p:grpSp>
        <p:nvGrpSpPr>
          <p:cNvPr name="Group 8" id="8"/>
          <p:cNvGrpSpPr>
            <a:grpSpLocks noChangeAspect="true"/>
          </p:cNvGrpSpPr>
          <p:nvPr/>
        </p:nvGrpSpPr>
        <p:grpSpPr>
          <a:xfrm rot="0">
            <a:off x="12965772" y="3397695"/>
            <a:ext cx="4655478" cy="3491609"/>
            <a:chOff x="0" y="0"/>
            <a:chExt cx="14494929" cy="10871200"/>
          </a:xfrm>
        </p:grpSpPr>
        <p:sp>
          <p:nvSpPr>
            <p:cNvPr name="Freeform 9" id="9"/>
            <p:cNvSpPr/>
            <p:nvPr/>
          </p:nvSpPr>
          <p:spPr>
            <a:xfrm flipH="true" flipV="false" rot="0">
              <a:off x="0" y="0"/>
              <a:ext cx="14495019" cy="10871200"/>
            </a:xfrm>
            <a:custGeom>
              <a:avLst/>
              <a:gdLst/>
              <a:ahLst/>
              <a:cxnLst/>
              <a:rect r="r" b="b" t="t" l="l"/>
              <a:pathLst>
                <a:path h="10871200" w="14495019">
                  <a:moveTo>
                    <a:pt x="14156310" y="0"/>
                  </a:moveTo>
                  <a:cubicBezTo>
                    <a:pt x="14343381" y="0"/>
                    <a:pt x="14495019" y="151638"/>
                    <a:pt x="14495019" y="338709"/>
                  </a:cubicBezTo>
                  <a:lnTo>
                    <a:pt x="14495019" y="10532491"/>
                  </a:lnTo>
                  <a:cubicBezTo>
                    <a:pt x="14495019" y="10719562"/>
                    <a:pt x="14343381" y="10871200"/>
                    <a:pt x="14156310" y="10871200"/>
                  </a:cubicBezTo>
                  <a:lnTo>
                    <a:pt x="338710" y="10871200"/>
                  </a:lnTo>
                  <a:cubicBezTo>
                    <a:pt x="151639" y="10871200"/>
                    <a:pt x="0" y="10719562"/>
                    <a:pt x="0" y="10532491"/>
                  </a:cubicBezTo>
                  <a:lnTo>
                    <a:pt x="0" y="338709"/>
                  </a:lnTo>
                  <a:cubicBezTo>
                    <a:pt x="0" y="151638"/>
                    <a:pt x="151637" y="0"/>
                    <a:pt x="338710" y="0"/>
                  </a:cubicBezTo>
                  <a:close/>
                </a:path>
              </a:pathLst>
            </a:custGeom>
            <a:blipFill>
              <a:blip r:embed="rId4"/>
              <a:stretch>
                <a:fillRect l="0" t="-16667" r="0" b="-16667"/>
              </a:stretch>
            </a:blipFill>
          </p:spPr>
        </p:sp>
      </p:grpSp>
      <p:pic>
        <p:nvPicPr>
          <p:cNvPr name="Picture 10" id="10"/>
          <p:cNvPicPr>
            <a:picLocks noChangeAspect="true"/>
          </p:cNvPicPr>
          <p:nvPr/>
        </p:nvPicPr>
        <p:blipFill>
          <a:blip r:embed="rId5"/>
          <a:srcRect l="0" t="0" r="0" b="0"/>
          <a:stretch>
            <a:fillRect/>
          </a:stretch>
        </p:blipFill>
        <p:spPr>
          <a:xfrm flipH="false" flipV="false" rot="0">
            <a:off x="14409905" y="4099360"/>
            <a:ext cx="1927746" cy="1927746"/>
          </a:xfrm>
          <a:prstGeom prst="rect">
            <a:avLst/>
          </a:prstGeom>
        </p:spPr>
      </p:pic>
      <p:grpSp>
        <p:nvGrpSpPr>
          <p:cNvPr name="Group 11" id="11"/>
          <p:cNvGrpSpPr/>
          <p:nvPr/>
        </p:nvGrpSpPr>
        <p:grpSpPr>
          <a:xfrm rot="0">
            <a:off x="6816261" y="3397695"/>
            <a:ext cx="4655478" cy="3491609"/>
            <a:chOff x="0" y="0"/>
            <a:chExt cx="2621923" cy="1966442"/>
          </a:xfrm>
        </p:grpSpPr>
        <p:sp>
          <p:nvSpPr>
            <p:cNvPr name="Freeform 12" id="12"/>
            <p:cNvSpPr/>
            <p:nvPr/>
          </p:nvSpPr>
          <p:spPr>
            <a:xfrm flipH="false" flipV="false" rot="0">
              <a:off x="0" y="0"/>
              <a:ext cx="2621923" cy="1966442"/>
            </a:xfrm>
            <a:custGeom>
              <a:avLst/>
              <a:gdLst/>
              <a:ahLst/>
              <a:cxnLst/>
              <a:rect r="r" b="b" t="t" l="l"/>
              <a:pathLst>
                <a:path h="1966442" w="2621923">
                  <a:moveTo>
                    <a:pt x="26608" y="0"/>
                  </a:moveTo>
                  <a:lnTo>
                    <a:pt x="2595315" y="0"/>
                  </a:lnTo>
                  <a:cubicBezTo>
                    <a:pt x="2610010" y="0"/>
                    <a:pt x="2621923" y="11913"/>
                    <a:pt x="2621923" y="26608"/>
                  </a:cubicBezTo>
                  <a:lnTo>
                    <a:pt x="2621923" y="1939835"/>
                  </a:lnTo>
                  <a:cubicBezTo>
                    <a:pt x="2621923" y="1946892"/>
                    <a:pt x="2619119" y="1953659"/>
                    <a:pt x="2614129" y="1958649"/>
                  </a:cubicBezTo>
                  <a:cubicBezTo>
                    <a:pt x="2609140" y="1963639"/>
                    <a:pt x="2602372" y="1966442"/>
                    <a:pt x="2595315" y="1966442"/>
                  </a:cubicBezTo>
                  <a:lnTo>
                    <a:pt x="26608" y="1966442"/>
                  </a:lnTo>
                  <a:cubicBezTo>
                    <a:pt x="11913" y="1966442"/>
                    <a:pt x="0" y="1954530"/>
                    <a:pt x="0" y="1939835"/>
                  </a:cubicBezTo>
                  <a:lnTo>
                    <a:pt x="0" y="26608"/>
                  </a:lnTo>
                  <a:cubicBezTo>
                    <a:pt x="0" y="11913"/>
                    <a:pt x="11913" y="0"/>
                    <a:pt x="26608" y="0"/>
                  </a:cubicBezTo>
                  <a:close/>
                </a:path>
              </a:pathLst>
            </a:custGeom>
            <a:solidFill>
              <a:srgbClr val="FFFFFF"/>
            </a:solidFill>
          </p:spPr>
        </p:sp>
        <p:sp>
          <p:nvSpPr>
            <p:cNvPr name="TextBox 13" id="13"/>
            <p:cNvSpPr txBox="true"/>
            <p:nvPr/>
          </p:nvSpPr>
          <p:spPr>
            <a:xfrm>
              <a:off x="0" y="38100"/>
              <a:ext cx="2621923" cy="1928342"/>
            </a:xfrm>
            <a:prstGeom prst="rect">
              <a:avLst/>
            </a:prstGeom>
          </p:spPr>
          <p:txBody>
            <a:bodyPr anchor="ctr" rtlCol="false" tIns="50800" lIns="50800" bIns="50800" rIns="50800"/>
            <a:lstStyle/>
            <a:p>
              <a:pPr algn="ctr">
                <a:lnSpc>
                  <a:spcPts val="1320"/>
                </a:lnSpc>
              </a:pPr>
            </a:p>
          </p:txBody>
        </p:sp>
      </p:grpSp>
      <p:sp>
        <p:nvSpPr>
          <p:cNvPr name="Freeform 14" id="14"/>
          <p:cNvSpPr/>
          <p:nvPr/>
        </p:nvSpPr>
        <p:spPr>
          <a:xfrm flipH="false" flipV="false" rot="0">
            <a:off x="8270059" y="4189292"/>
            <a:ext cx="1908417" cy="1908417"/>
          </a:xfrm>
          <a:custGeom>
            <a:avLst/>
            <a:gdLst/>
            <a:ahLst/>
            <a:cxnLst/>
            <a:rect r="r" b="b" t="t" l="l"/>
            <a:pathLst>
              <a:path h="1908417" w="1908417">
                <a:moveTo>
                  <a:pt x="0" y="0"/>
                </a:moveTo>
                <a:lnTo>
                  <a:pt x="1908416" y="0"/>
                </a:lnTo>
                <a:lnTo>
                  <a:pt x="1908416" y="1908416"/>
                </a:lnTo>
                <a:lnTo>
                  <a:pt x="0" y="1908416"/>
                </a:lnTo>
                <a:lnTo>
                  <a:pt x="0" y="0"/>
                </a:lnTo>
                <a:close/>
              </a:path>
            </a:pathLst>
          </a:custGeom>
          <a:blipFill>
            <a:blip r:embed="rId6"/>
            <a:stretch>
              <a:fillRect l="0" t="0" r="0" b="0"/>
            </a:stretch>
          </a:blipFill>
        </p:spPr>
      </p:sp>
      <p:sp>
        <p:nvSpPr>
          <p:cNvPr name="TextBox 15" id="15"/>
          <p:cNvSpPr txBox="true"/>
          <p:nvPr/>
        </p:nvSpPr>
        <p:spPr>
          <a:xfrm rot="0">
            <a:off x="5712023" y="4292423"/>
            <a:ext cx="669727" cy="1606904"/>
          </a:xfrm>
          <a:prstGeom prst="rect">
            <a:avLst/>
          </a:prstGeom>
        </p:spPr>
        <p:txBody>
          <a:bodyPr anchor="t" rtlCol="false" tIns="0" lIns="0" bIns="0" rIns="0">
            <a:spAutoFit/>
          </a:bodyPr>
          <a:lstStyle/>
          <a:p>
            <a:pPr algn="ctr">
              <a:lnSpc>
                <a:spcPts val="12963"/>
              </a:lnSpc>
              <a:spcBef>
                <a:spcPct val="0"/>
              </a:spcBef>
            </a:pPr>
            <a:r>
              <a:rPr lang="en-US" sz="9972">
                <a:solidFill>
                  <a:srgbClr val="FFFFFF"/>
                </a:solidFill>
                <a:latin typeface="Canva Sans Display"/>
                <a:ea typeface="Canva Sans Display"/>
                <a:cs typeface="Canva Sans Display"/>
                <a:sym typeface="Canva Sans Display"/>
              </a:rPr>
              <a:t>+</a:t>
            </a:r>
          </a:p>
        </p:txBody>
      </p:sp>
      <p:sp>
        <p:nvSpPr>
          <p:cNvPr name="TextBox 16" id="16"/>
          <p:cNvSpPr txBox="true"/>
          <p:nvPr/>
        </p:nvSpPr>
        <p:spPr>
          <a:xfrm rot="0">
            <a:off x="11868414" y="4292423"/>
            <a:ext cx="700683" cy="1606904"/>
          </a:xfrm>
          <a:prstGeom prst="rect">
            <a:avLst/>
          </a:prstGeom>
        </p:spPr>
        <p:txBody>
          <a:bodyPr anchor="t" rtlCol="false" tIns="0" lIns="0" bIns="0" rIns="0">
            <a:spAutoFit/>
          </a:bodyPr>
          <a:lstStyle/>
          <a:p>
            <a:pPr algn="ctr">
              <a:lnSpc>
                <a:spcPts val="12963"/>
              </a:lnSpc>
              <a:spcBef>
                <a:spcPct val="0"/>
              </a:spcBef>
            </a:pPr>
            <a:r>
              <a:rPr lang="en-US" sz="9972">
                <a:solidFill>
                  <a:srgbClr val="FFFFFF"/>
                </a:solidFill>
                <a:latin typeface="Canva Sans Display"/>
                <a:ea typeface="Canva Sans Display"/>
                <a:cs typeface="Canva Sans Display"/>
                <a:sym typeface="Canva Sans Display"/>
              </a:rPr>
              <a: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921704" y="2393468"/>
            <a:ext cx="10169694" cy="4525901"/>
          </a:xfrm>
          <a:prstGeom prst="rect">
            <a:avLst/>
          </a:prstGeom>
        </p:spPr>
        <p:txBody>
          <a:bodyPr anchor="t" rtlCol="false" tIns="0" lIns="0" bIns="0" rIns="0">
            <a:spAutoFit/>
          </a:bodyPr>
          <a:lstStyle/>
          <a:p>
            <a:pPr algn="l" marL="0" indent="0" lvl="0">
              <a:lnSpc>
                <a:spcPts val="11325"/>
              </a:lnSpc>
            </a:pPr>
            <a:r>
              <a:rPr lang="en-US" b="true" sz="9934">
                <a:solidFill>
                  <a:srgbClr val="005FC2"/>
                </a:solidFill>
                <a:latin typeface="Neo Tech Bold"/>
                <a:ea typeface="Neo Tech Bold"/>
                <a:cs typeface="Neo Tech Bold"/>
                <a:sym typeface="Neo Tech Bold"/>
              </a:rPr>
              <a:t>KUBERNETES STORAGE &amp; MONITORING</a:t>
            </a:r>
          </a:p>
        </p:txBody>
      </p:sp>
      <p:sp>
        <p:nvSpPr>
          <p:cNvPr name="Freeform 3" id="3"/>
          <p:cNvSpPr/>
          <p:nvPr/>
        </p:nvSpPr>
        <p:spPr>
          <a:xfrm flipH="true" flipV="false" rot="0">
            <a:off x="13499617" y="-3375063"/>
            <a:ext cx="7161170" cy="10230243"/>
          </a:xfrm>
          <a:custGeom>
            <a:avLst/>
            <a:gdLst/>
            <a:ahLst/>
            <a:cxnLst/>
            <a:rect r="r" b="b" t="t" l="l"/>
            <a:pathLst>
              <a:path h="10230243" w="7161170">
                <a:moveTo>
                  <a:pt x="7161170" y="0"/>
                </a:moveTo>
                <a:lnTo>
                  <a:pt x="0" y="0"/>
                </a:lnTo>
                <a:lnTo>
                  <a:pt x="0" y="10230242"/>
                </a:lnTo>
                <a:lnTo>
                  <a:pt x="7161170" y="10230242"/>
                </a:lnTo>
                <a:lnTo>
                  <a:pt x="716117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921704" y="6938471"/>
            <a:ext cx="10738439" cy="411928"/>
          </a:xfrm>
          <a:prstGeom prst="rect">
            <a:avLst/>
          </a:prstGeom>
        </p:spPr>
        <p:txBody>
          <a:bodyPr anchor="t" rtlCol="false" tIns="0" lIns="0" bIns="0" rIns="0">
            <a:spAutoFit/>
          </a:bodyPr>
          <a:lstStyle/>
          <a:p>
            <a:pPr algn="l" marL="0" indent="0" lvl="0">
              <a:lnSpc>
                <a:spcPts val="3256"/>
              </a:lnSpc>
            </a:pPr>
            <a:r>
              <a:rPr lang="en-US" b="true" sz="2856">
                <a:solidFill>
                  <a:srgbClr val="005FC2"/>
                </a:solidFill>
                <a:latin typeface="Koho Bold"/>
                <a:ea typeface="Koho Bold"/>
                <a:cs typeface="Koho Bold"/>
                <a:sym typeface="Koho Bold"/>
              </a:rPr>
              <a:t>Docker Volumes, PV, PVC, Storage Classes, Prometheus &amp; Grafana</a:t>
            </a:r>
          </a:p>
        </p:txBody>
      </p:sp>
      <p:sp>
        <p:nvSpPr>
          <p:cNvPr name="Freeform 5" id="5"/>
          <p:cNvSpPr/>
          <p:nvPr/>
        </p:nvSpPr>
        <p:spPr>
          <a:xfrm flipH="false" flipV="true" rot="-151067">
            <a:off x="-1812924" y="4400378"/>
            <a:ext cx="7161170" cy="10230243"/>
          </a:xfrm>
          <a:custGeom>
            <a:avLst/>
            <a:gdLst/>
            <a:ahLst/>
            <a:cxnLst/>
            <a:rect r="r" b="b" t="t" l="l"/>
            <a:pathLst>
              <a:path h="10230243" w="7161170">
                <a:moveTo>
                  <a:pt x="0" y="10230242"/>
                </a:moveTo>
                <a:lnTo>
                  <a:pt x="7161170" y="10230242"/>
                </a:lnTo>
                <a:lnTo>
                  <a:pt x="7161170" y="0"/>
                </a:lnTo>
                <a:lnTo>
                  <a:pt x="0" y="0"/>
                </a:lnTo>
                <a:lnTo>
                  <a:pt x="0" y="1023024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25238" y="-1294162"/>
            <a:ext cx="7793442" cy="4080930"/>
          </a:xfrm>
          <a:custGeom>
            <a:avLst/>
            <a:gdLst/>
            <a:ahLst/>
            <a:cxnLst/>
            <a:rect r="r" b="b" t="t" l="l"/>
            <a:pathLst>
              <a:path h="4080930" w="7793442">
                <a:moveTo>
                  <a:pt x="0" y="0"/>
                </a:moveTo>
                <a:lnTo>
                  <a:pt x="7793442" y="0"/>
                </a:lnTo>
                <a:lnTo>
                  <a:pt x="7793442" y="4080930"/>
                </a:lnTo>
                <a:lnTo>
                  <a:pt x="0" y="4080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494558" y="7817332"/>
            <a:ext cx="7793442" cy="4080930"/>
          </a:xfrm>
          <a:custGeom>
            <a:avLst/>
            <a:gdLst/>
            <a:ahLst/>
            <a:cxnLst/>
            <a:rect r="r" b="b" t="t" l="l"/>
            <a:pathLst>
              <a:path h="4080930" w="7793442">
                <a:moveTo>
                  <a:pt x="0" y="0"/>
                </a:moveTo>
                <a:lnTo>
                  <a:pt x="7793442" y="0"/>
                </a:lnTo>
                <a:lnTo>
                  <a:pt x="7793442" y="4080930"/>
                </a:lnTo>
                <a:lnTo>
                  <a:pt x="0" y="4080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5FC2"/>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7221231" y="1520888"/>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2384810" y="2397377"/>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638993" y="4513069"/>
            <a:ext cx="675493" cy="675493"/>
          </a:xfrm>
          <a:custGeom>
            <a:avLst/>
            <a:gdLst/>
            <a:ahLst/>
            <a:cxnLst/>
            <a:rect r="r" b="b" t="t" l="l"/>
            <a:pathLst>
              <a:path h="675493" w="675493">
                <a:moveTo>
                  <a:pt x="0" y="0"/>
                </a:moveTo>
                <a:lnTo>
                  <a:pt x="675493" y="0"/>
                </a:lnTo>
                <a:lnTo>
                  <a:pt x="675493" y="675493"/>
                </a:lnTo>
                <a:lnTo>
                  <a:pt x="0" y="675493"/>
                </a:lnTo>
                <a:lnTo>
                  <a:pt x="0" y="0"/>
                </a:lnTo>
                <a:close/>
              </a:path>
            </a:pathLst>
          </a:custGeom>
          <a:blipFill>
            <a:blip r:embed="rId4"/>
            <a:stretch>
              <a:fillRect l="0" t="0" r="0" b="0"/>
            </a:stretch>
          </a:blipFill>
        </p:spPr>
      </p:sp>
      <p:sp>
        <p:nvSpPr>
          <p:cNvPr name="TextBox 5" id="5"/>
          <p:cNvSpPr txBox="true"/>
          <p:nvPr/>
        </p:nvSpPr>
        <p:spPr>
          <a:xfrm rot="0">
            <a:off x="4336389" y="1587629"/>
            <a:ext cx="9615222" cy="1238250"/>
          </a:xfrm>
          <a:prstGeom prst="rect">
            <a:avLst/>
          </a:prstGeom>
        </p:spPr>
        <p:txBody>
          <a:bodyPr anchor="t" rtlCol="false" tIns="0" lIns="0" bIns="0" rIns="0">
            <a:spAutoFit/>
          </a:bodyPr>
          <a:lstStyle/>
          <a:p>
            <a:pPr algn="ctr" marL="0" indent="0" lvl="0">
              <a:lnSpc>
                <a:spcPts val="8549"/>
              </a:lnSpc>
            </a:pPr>
            <a:r>
              <a:rPr lang="en-US" b="true" sz="7500">
                <a:solidFill>
                  <a:srgbClr val="FFFFFF"/>
                </a:solidFill>
                <a:latin typeface="Neo Tech Bold"/>
                <a:ea typeface="Neo Tech Bold"/>
                <a:cs typeface="Neo Tech Bold"/>
                <a:sym typeface="Neo Tech Bold"/>
              </a:rPr>
              <a:t>SESSION AGENDA</a:t>
            </a:r>
          </a:p>
        </p:txBody>
      </p:sp>
      <p:sp>
        <p:nvSpPr>
          <p:cNvPr name="TextBox 6" id="6"/>
          <p:cNvSpPr txBox="true"/>
          <p:nvPr/>
        </p:nvSpPr>
        <p:spPr>
          <a:xfrm rot="0">
            <a:off x="4813846" y="4315722"/>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YAML &amp; Storage Concepts</a:t>
            </a:r>
          </a:p>
          <a:p>
            <a:pPr algn="l" marL="0" indent="0" lvl="0">
              <a:lnSpc>
                <a:spcPts val="3191"/>
              </a:lnSpc>
            </a:pPr>
            <a:r>
              <a:rPr lang="en-US" sz="2799">
                <a:solidFill>
                  <a:srgbClr val="FFFFFF"/>
                </a:solidFill>
                <a:latin typeface="Koho"/>
                <a:ea typeface="Koho"/>
                <a:cs typeface="Koho"/>
                <a:sym typeface="Koho"/>
              </a:rPr>
              <a:t>Understanding YAML fundamentals, what volumes are, why we need persistent storage, and the Kubernetes storage architecture overview.</a:t>
            </a:r>
          </a:p>
        </p:txBody>
      </p:sp>
      <p:sp>
        <p:nvSpPr>
          <p:cNvPr name="TextBox 7" id="7"/>
          <p:cNvSpPr txBox="true"/>
          <p:nvPr/>
        </p:nvSpPr>
        <p:spPr>
          <a:xfrm rot="0">
            <a:off x="4813846" y="5856350"/>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Volume Types &amp; Architecture</a:t>
            </a:r>
          </a:p>
          <a:p>
            <a:pPr algn="l" marL="0" indent="0" lvl="0">
              <a:lnSpc>
                <a:spcPts val="3191"/>
              </a:lnSpc>
            </a:pPr>
            <a:r>
              <a:rPr lang="en-US" sz="2799">
                <a:solidFill>
                  <a:srgbClr val="FFFFFF"/>
                </a:solidFill>
                <a:latin typeface="Koho"/>
                <a:ea typeface="Koho"/>
                <a:cs typeface="Koho"/>
                <a:sym typeface="Koho"/>
              </a:rPr>
              <a:t>Exploring emptyDir, hostPath, ConfigMap, Secrets, NFS, and CSI Storage - understanding when and how to use each type.</a:t>
            </a:r>
          </a:p>
        </p:txBody>
      </p:sp>
      <p:sp>
        <p:nvSpPr>
          <p:cNvPr name="TextBox 8" id="8"/>
          <p:cNvSpPr txBox="true"/>
          <p:nvPr/>
        </p:nvSpPr>
        <p:spPr>
          <a:xfrm rot="0">
            <a:off x="4813846" y="7401685"/>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Live Demo with Monitoring</a:t>
            </a:r>
          </a:p>
          <a:p>
            <a:pPr algn="l" marL="0" indent="0" lvl="0">
              <a:lnSpc>
                <a:spcPts val="3191"/>
              </a:lnSpc>
            </a:pPr>
            <a:r>
              <a:rPr lang="en-US" sz="2799">
                <a:solidFill>
                  <a:srgbClr val="FFFFFF"/>
                </a:solidFill>
                <a:latin typeface="Koho"/>
                <a:ea typeface="Koho"/>
                <a:cs typeface="Koho"/>
                <a:sym typeface="Koho"/>
              </a:rPr>
              <a:t>Hands-on demonstrations showing volume behaviors, limitations, and solutions with Prometheus &amp; Grafana integration.</a:t>
            </a:r>
          </a:p>
        </p:txBody>
      </p:sp>
      <p:sp>
        <p:nvSpPr>
          <p:cNvPr name="Freeform 9" id="9"/>
          <p:cNvSpPr/>
          <p:nvPr/>
        </p:nvSpPr>
        <p:spPr>
          <a:xfrm flipH="false" flipV="false" rot="0">
            <a:off x="3614557" y="6033670"/>
            <a:ext cx="723885" cy="719863"/>
          </a:xfrm>
          <a:custGeom>
            <a:avLst/>
            <a:gdLst/>
            <a:ahLst/>
            <a:cxnLst/>
            <a:rect r="r" b="b" t="t" l="l"/>
            <a:pathLst>
              <a:path h="719863" w="723885">
                <a:moveTo>
                  <a:pt x="0" y="0"/>
                </a:moveTo>
                <a:lnTo>
                  <a:pt x="723884" y="0"/>
                </a:lnTo>
                <a:lnTo>
                  <a:pt x="723884" y="719863"/>
                </a:lnTo>
                <a:lnTo>
                  <a:pt x="0" y="719863"/>
                </a:lnTo>
                <a:lnTo>
                  <a:pt x="0" y="0"/>
                </a:lnTo>
                <a:close/>
              </a:path>
            </a:pathLst>
          </a:custGeom>
          <a:blipFill>
            <a:blip r:embed="rId5"/>
            <a:stretch>
              <a:fillRect l="0" t="0" r="0" b="0"/>
            </a:stretch>
          </a:blipFill>
        </p:spPr>
      </p:sp>
      <p:sp>
        <p:nvSpPr>
          <p:cNvPr name="Freeform 10" id="10"/>
          <p:cNvSpPr/>
          <p:nvPr/>
        </p:nvSpPr>
        <p:spPr>
          <a:xfrm flipH="false" flipV="false" rot="0">
            <a:off x="3699133" y="7666393"/>
            <a:ext cx="724104" cy="724104"/>
          </a:xfrm>
          <a:custGeom>
            <a:avLst/>
            <a:gdLst/>
            <a:ahLst/>
            <a:cxnLst/>
            <a:rect r="r" b="b" t="t" l="l"/>
            <a:pathLst>
              <a:path h="724104" w="724104">
                <a:moveTo>
                  <a:pt x="0" y="0"/>
                </a:moveTo>
                <a:lnTo>
                  <a:pt x="724104" y="0"/>
                </a:lnTo>
                <a:lnTo>
                  <a:pt x="724104" y="724104"/>
                </a:lnTo>
                <a:lnTo>
                  <a:pt x="0" y="724104"/>
                </a:lnTo>
                <a:lnTo>
                  <a:pt x="0" y="0"/>
                </a:lnTo>
                <a:close/>
              </a:path>
            </a:pathLst>
          </a:custGeom>
          <a:blipFill>
            <a:blip r:embed="rId6"/>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696575" y="1488837"/>
            <a:ext cx="10894849" cy="1238210"/>
          </a:xfrm>
          <a:prstGeom prst="rect">
            <a:avLst/>
          </a:prstGeom>
        </p:spPr>
        <p:txBody>
          <a:bodyPr anchor="t" rtlCol="false" tIns="0" lIns="0" bIns="0" rIns="0">
            <a:spAutoFit/>
          </a:bodyPr>
          <a:lstStyle/>
          <a:p>
            <a:pPr algn="ctr" marL="0" indent="0" lvl="0">
              <a:lnSpc>
                <a:spcPts val="8543"/>
              </a:lnSpc>
            </a:pPr>
            <a:r>
              <a:rPr lang="en-US" b="true" sz="7494">
                <a:solidFill>
                  <a:srgbClr val="005FC2"/>
                </a:solidFill>
                <a:latin typeface="Neo Tech Bold"/>
                <a:ea typeface="Neo Tech Bold"/>
                <a:cs typeface="Neo Tech Bold"/>
                <a:sym typeface="Neo Tech Bold"/>
              </a:rPr>
              <a:t>INTRODUCTION</a:t>
            </a:r>
          </a:p>
        </p:txBody>
      </p:sp>
      <p:sp>
        <p:nvSpPr>
          <p:cNvPr name="TextBox 3" id="3"/>
          <p:cNvSpPr txBox="true"/>
          <p:nvPr/>
        </p:nvSpPr>
        <p:spPr>
          <a:xfrm rot="0">
            <a:off x="5403738" y="3309309"/>
            <a:ext cx="8868773" cy="2393046"/>
          </a:xfrm>
          <a:prstGeom prst="rect">
            <a:avLst/>
          </a:prstGeom>
        </p:spPr>
        <p:txBody>
          <a:bodyPr anchor="t" rtlCol="false" tIns="0" lIns="0" bIns="0" rIns="0">
            <a:spAutoFit/>
          </a:bodyPr>
          <a:lstStyle/>
          <a:p>
            <a:pPr algn="just" marL="0" indent="0" lvl="0">
              <a:lnSpc>
                <a:spcPts val="3189"/>
              </a:lnSpc>
            </a:pPr>
            <a:r>
              <a:rPr lang="en-US" sz="2798">
                <a:solidFill>
                  <a:srgbClr val="005FC2"/>
                </a:solidFill>
                <a:latin typeface="Koho"/>
                <a:ea typeface="Koho"/>
                <a:cs typeface="Koho"/>
                <a:sym typeface="Koho"/>
              </a:rPr>
              <a:t>Why This KT Matters: Understanding Kubernetes storage concepts is essential for deploying stateful applications. Volumes, PVs, PVCs, and Storage Classes form the foundation of persistent data management in containerized environments. This knowledge enables you to build resilient, production-ready applications.</a:t>
            </a:r>
          </a:p>
        </p:txBody>
      </p:sp>
      <p:sp>
        <p:nvSpPr>
          <p:cNvPr name="Freeform 4" id="4"/>
          <p:cNvSpPr/>
          <p:nvPr/>
        </p:nvSpPr>
        <p:spPr>
          <a:xfrm flipH="false" flipV="false" rot="-7720815">
            <a:off x="-5386022" y="5635688"/>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8367064">
            <a:off x="10341117" y="-1585888"/>
            <a:ext cx="13836366" cy="7245224"/>
          </a:xfrm>
          <a:custGeom>
            <a:avLst/>
            <a:gdLst/>
            <a:ahLst/>
            <a:cxnLst/>
            <a:rect r="r" b="b" t="t" l="l"/>
            <a:pathLst>
              <a:path h="7245224" w="13836366">
                <a:moveTo>
                  <a:pt x="13836366" y="0"/>
                </a:moveTo>
                <a:lnTo>
                  <a:pt x="0" y="0"/>
                </a:lnTo>
                <a:lnTo>
                  <a:pt x="0" y="7245225"/>
                </a:lnTo>
                <a:lnTo>
                  <a:pt x="13836366" y="7245225"/>
                </a:lnTo>
                <a:lnTo>
                  <a:pt x="1383636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015489" y="4017828"/>
            <a:ext cx="947448" cy="947448"/>
          </a:xfrm>
          <a:custGeom>
            <a:avLst/>
            <a:gdLst/>
            <a:ahLst/>
            <a:cxnLst/>
            <a:rect r="r" b="b" t="t" l="l"/>
            <a:pathLst>
              <a:path h="947448" w="947448">
                <a:moveTo>
                  <a:pt x="0" y="0"/>
                </a:moveTo>
                <a:lnTo>
                  <a:pt x="947448" y="0"/>
                </a:lnTo>
                <a:lnTo>
                  <a:pt x="947448" y="947448"/>
                </a:lnTo>
                <a:lnTo>
                  <a:pt x="0" y="9474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5476496" y="6407220"/>
            <a:ext cx="8868773" cy="1992996"/>
          </a:xfrm>
          <a:prstGeom prst="rect">
            <a:avLst/>
          </a:prstGeom>
        </p:spPr>
        <p:txBody>
          <a:bodyPr anchor="t" rtlCol="false" tIns="0" lIns="0" bIns="0" rIns="0">
            <a:spAutoFit/>
          </a:bodyPr>
          <a:lstStyle/>
          <a:p>
            <a:pPr algn="just" marL="0" indent="0" lvl="0">
              <a:lnSpc>
                <a:spcPts val="3189"/>
              </a:lnSpc>
            </a:pPr>
            <a:r>
              <a:rPr lang="en-US" sz="2798">
                <a:solidFill>
                  <a:srgbClr val="005FC2"/>
                </a:solidFill>
                <a:latin typeface="Koho"/>
                <a:ea typeface="Koho"/>
                <a:cs typeface="Koho"/>
                <a:sym typeface="Koho"/>
              </a:rPr>
              <a:t>Prerequisites &amp; What You'll Learn: Basic knowledge of Kubernetes pods and deployments is recommended. By the end of this session, you'll understand volume types, storage architecture, and how to implement monitoring with Prometheus and Grafana for your storage solutions.</a:t>
            </a:r>
          </a:p>
        </p:txBody>
      </p:sp>
      <p:sp>
        <p:nvSpPr>
          <p:cNvPr name="Freeform 8" id="8"/>
          <p:cNvSpPr/>
          <p:nvPr/>
        </p:nvSpPr>
        <p:spPr>
          <a:xfrm flipH="false" flipV="false" rot="0">
            <a:off x="4088248" y="7115739"/>
            <a:ext cx="947448" cy="947448"/>
          </a:xfrm>
          <a:custGeom>
            <a:avLst/>
            <a:gdLst/>
            <a:ahLst/>
            <a:cxnLst/>
            <a:rect r="r" b="b" t="t" l="l"/>
            <a:pathLst>
              <a:path h="947448" w="947448">
                <a:moveTo>
                  <a:pt x="0" y="0"/>
                </a:moveTo>
                <a:lnTo>
                  <a:pt x="947448" y="0"/>
                </a:lnTo>
                <a:lnTo>
                  <a:pt x="947448" y="947448"/>
                </a:lnTo>
                <a:lnTo>
                  <a:pt x="0" y="9474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696575" y="1488837"/>
            <a:ext cx="10894849" cy="1238210"/>
          </a:xfrm>
          <a:prstGeom prst="rect">
            <a:avLst/>
          </a:prstGeom>
        </p:spPr>
        <p:txBody>
          <a:bodyPr anchor="t" rtlCol="false" tIns="0" lIns="0" bIns="0" rIns="0">
            <a:spAutoFit/>
          </a:bodyPr>
          <a:lstStyle/>
          <a:p>
            <a:pPr algn="ctr" marL="0" indent="0" lvl="0">
              <a:lnSpc>
                <a:spcPts val="8543"/>
              </a:lnSpc>
            </a:pPr>
            <a:r>
              <a:rPr lang="en-US" b="true" sz="7494">
                <a:solidFill>
                  <a:srgbClr val="005FC2"/>
                </a:solidFill>
                <a:latin typeface="Neo Tech Bold"/>
                <a:ea typeface="Neo Tech Bold"/>
                <a:cs typeface="Neo Tech Bold"/>
                <a:sym typeface="Neo Tech Bold"/>
              </a:rPr>
              <a:t>WHAT IS YAML?</a:t>
            </a:r>
          </a:p>
        </p:txBody>
      </p:sp>
      <p:sp>
        <p:nvSpPr>
          <p:cNvPr name="TextBox 3" id="3"/>
          <p:cNvSpPr txBox="true"/>
          <p:nvPr/>
        </p:nvSpPr>
        <p:spPr>
          <a:xfrm rot="0">
            <a:off x="5403738" y="3309309"/>
            <a:ext cx="8868773" cy="1993011"/>
          </a:xfrm>
          <a:prstGeom prst="rect">
            <a:avLst/>
          </a:prstGeom>
        </p:spPr>
        <p:txBody>
          <a:bodyPr anchor="t" rtlCol="false" tIns="0" lIns="0" bIns="0" rIns="0">
            <a:spAutoFit/>
          </a:bodyPr>
          <a:lstStyle/>
          <a:p>
            <a:pPr algn="just" marL="0" indent="0" lvl="0">
              <a:lnSpc>
                <a:spcPts val="3191"/>
              </a:lnSpc>
            </a:pPr>
            <a:r>
              <a:rPr lang="en-US" sz="2799">
                <a:solidFill>
                  <a:srgbClr val="005FC2"/>
                </a:solidFill>
                <a:latin typeface="Koho"/>
                <a:ea typeface="Koho"/>
                <a:cs typeface="Koho"/>
                <a:sym typeface="Koho"/>
              </a:rPr>
              <a:t>YAML (YAML Ain't Markup Language) is a human-readable data serialization format commonly used for configuration files. It uses simple key-value pairs and indentation to represent data structures, making it easy to read and write compared to JSON or XML.</a:t>
            </a:r>
          </a:p>
        </p:txBody>
      </p:sp>
      <p:sp>
        <p:nvSpPr>
          <p:cNvPr name="Freeform 4" id="4"/>
          <p:cNvSpPr/>
          <p:nvPr/>
        </p:nvSpPr>
        <p:spPr>
          <a:xfrm flipH="false" flipV="false" rot="-7720815">
            <a:off x="-5386022" y="5635688"/>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8367064">
            <a:off x="10341117" y="-1585888"/>
            <a:ext cx="13836366" cy="7245224"/>
          </a:xfrm>
          <a:custGeom>
            <a:avLst/>
            <a:gdLst/>
            <a:ahLst/>
            <a:cxnLst/>
            <a:rect r="r" b="b" t="t" l="l"/>
            <a:pathLst>
              <a:path h="7245224" w="13836366">
                <a:moveTo>
                  <a:pt x="13836366" y="0"/>
                </a:moveTo>
                <a:lnTo>
                  <a:pt x="0" y="0"/>
                </a:lnTo>
                <a:lnTo>
                  <a:pt x="0" y="7245225"/>
                </a:lnTo>
                <a:lnTo>
                  <a:pt x="13836366" y="7245225"/>
                </a:lnTo>
                <a:lnTo>
                  <a:pt x="1383636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015489" y="4017828"/>
            <a:ext cx="947448" cy="947448"/>
          </a:xfrm>
          <a:custGeom>
            <a:avLst/>
            <a:gdLst/>
            <a:ahLst/>
            <a:cxnLst/>
            <a:rect r="r" b="b" t="t" l="l"/>
            <a:pathLst>
              <a:path h="947448" w="947448">
                <a:moveTo>
                  <a:pt x="0" y="0"/>
                </a:moveTo>
                <a:lnTo>
                  <a:pt x="947448" y="0"/>
                </a:lnTo>
                <a:lnTo>
                  <a:pt x="947448" y="947448"/>
                </a:lnTo>
                <a:lnTo>
                  <a:pt x="0" y="9474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5476496" y="6407220"/>
            <a:ext cx="8868773" cy="1993011"/>
          </a:xfrm>
          <a:prstGeom prst="rect">
            <a:avLst/>
          </a:prstGeom>
        </p:spPr>
        <p:txBody>
          <a:bodyPr anchor="t" rtlCol="false" tIns="0" lIns="0" bIns="0" rIns="0">
            <a:spAutoFit/>
          </a:bodyPr>
          <a:lstStyle/>
          <a:p>
            <a:pPr algn="just" marL="0" indent="0" lvl="0">
              <a:lnSpc>
                <a:spcPts val="3191"/>
              </a:lnSpc>
            </a:pPr>
            <a:r>
              <a:rPr lang="en-US" sz="2799">
                <a:solidFill>
                  <a:srgbClr val="005FC2"/>
                </a:solidFill>
                <a:latin typeface="Koho"/>
                <a:ea typeface="Koho"/>
                <a:cs typeface="Koho"/>
                <a:sym typeface="Koho"/>
              </a:rPr>
              <a:t>In Kubernetes, YAML files are the standard way to define and configure all resources including Pods, Deployments, Services, PersistentVolumes, and StorageClasses. Understanding YAML syntax is essential for managing Kubernetes infrastructure effectively.</a:t>
            </a:r>
          </a:p>
        </p:txBody>
      </p:sp>
      <p:sp>
        <p:nvSpPr>
          <p:cNvPr name="Freeform 8" id="8"/>
          <p:cNvSpPr/>
          <p:nvPr/>
        </p:nvSpPr>
        <p:spPr>
          <a:xfrm flipH="false" flipV="false" rot="0">
            <a:off x="4088248" y="7115739"/>
            <a:ext cx="947448" cy="947448"/>
          </a:xfrm>
          <a:custGeom>
            <a:avLst/>
            <a:gdLst/>
            <a:ahLst/>
            <a:cxnLst/>
            <a:rect r="r" b="b" t="t" l="l"/>
            <a:pathLst>
              <a:path h="947448" w="947448">
                <a:moveTo>
                  <a:pt x="0" y="0"/>
                </a:moveTo>
                <a:lnTo>
                  <a:pt x="947448" y="0"/>
                </a:lnTo>
                <a:lnTo>
                  <a:pt x="947448" y="947448"/>
                </a:lnTo>
                <a:lnTo>
                  <a:pt x="0" y="9474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696575" y="1507887"/>
            <a:ext cx="10894849" cy="1008366"/>
          </a:xfrm>
          <a:prstGeom prst="rect">
            <a:avLst/>
          </a:prstGeom>
        </p:spPr>
        <p:txBody>
          <a:bodyPr anchor="t" rtlCol="false" tIns="0" lIns="0" bIns="0" rIns="0">
            <a:spAutoFit/>
          </a:bodyPr>
          <a:lstStyle/>
          <a:p>
            <a:pPr algn="ctr" marL="0" indent="0" lvl="0">
              <a:lnSpc>
                <a:spcPts val="6932"/>
              </a:lnSpc>
            </a:pPr>
            <a:r>
              <a:rPr lang="en-US" b="true" sz="6081">
                <a:solidFill>
                  <a:srgbClr val="005FC2"/>
                </a:solidFill>
                <a:latin typeface="Neo Tech Bold"/>
                <a:ea typeface="Neo Tech Bold"/>
                <a:cs typeface="Neo Tech Bold"/>
                <a:sym typeface="Neo Tech Bold"/>
              </a:rPr>
              <a:t>WHY DO WE NEED VOLUMES?</a:t>
            </a:r>
          </a:p>
        </p:txBody>
      </p:sp>
      <p:sp>
        <p:nvSpPr>
          <p:cNvPr name="TextBox 3" id="3"/>
          <p:cNvSpPr txBox="true"/>
          <p:nvPr/>
        </p:nvSpPr>
        <p:spPr>
          <a:xfrm rot="0">
            <a:off x="5403738" y="3309309"/>
            <a:ext cx="8868773" cy="2392934"/>
          </a:xfrm>
          <a:prstGeom prst="rect">
            <a:avLst/>
          </a:prstGeom>
        </p:spPr>
        <p:txBody>
          <a:bodyPr anchor="t" rtlCol="false" tIns="0" lIns="0" bIns="0" rIns="0">
            <a:spAutoFit/>
          </a:bodyPr>
          <a:lstStyle/>
          <a:p>
            <a:pPr algn="just" marL="0" indent="0" lvl="0">
              <a:lnSpc>
                <a:spcPts val="3173"/>
              </a:lnSpc>
            </a:pPr>
            <a:r>
              <a:rPr lang="en-US" sz="2783">
                <a:solidFill>
                  <a:srgbClr val="005FC2"/>
                </a:solidFill>
                <a:latin typeface="Koho"/>
                <a:ea typeface="Koho"/>
                <a:cs typeface="Koho"/>
                <a:sym typeface="Koho"/>
              </a:rPr>
              <a:t>Data Persistence Challenge: Containers are ephemeral by nature - when a container crashes, restarts, or is replaced, all data stored inside the container's filesystem is lost. This creates a critical problem for stateful applications like databases, file storage systems, and applications that need to maintain state across restarts.</a:t>
            </a:r>
          </a:p>
        </p:txBody>
      </p:sp>
      <p:sp>
        <p:nvSpPr>
          <p:cNvPr name="Freeform 4" id="4"/>
          <p:cNvSpPr/>
          <p:nvPr/>
        </p:nvSpPr>
        <p:spPr>
          <a:xfrm flipH="false" flipV="false" rot="-7720815">
            <a:off x="-5386022" y="5635688"/>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8367064">
            <a:off x="10341117" y="-1585888"/>
            <a:ext cx="13836366" cy="7245224"/>
          </a:xfrm>
          <a:custGeom>
            <a:avLst/>
            <a:gdLst/>
            <a:ahLst/>
            <a:cxnLst/>
            <a:rect r="r" b="b" t="t" l="l"/>
            <a:pathLst>
              <a:path h="7245224" w="13836366">
                <a:moveTo>
                  <a:pt x="13836366" y="0"/>
                </a:moveTo>
                <a:lnTo>
                  <a:pt x="0" y="0"/>
                </a:lnTo>
                <a:lnTo>
                  <a:pt x="0" y="7245225"/>
                </a:lnTo>
                <a:lnTo>
                  <a:pt x="13836366" y="7245225"/>
                </a:lnTo>
                <a:lnTo>
                  <a:pt x="1383636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015489" y="4017828"/>
            <a:ext cx="947448" cy="947448"/>
          </a:xfrm>
          <a:custGeom>
            <a:avLst/>
            <a:gdLst/>
            <a:ahLst/>
            <a:cxnLst/>
            <a:rect r="r" b="b" t="t" l="l"/>
            <a:pathLst>
              <a:path h="947448" w="947448">
                <a:moveTo>
                  <a:pt x="0" y="0"/>
                </a:moveTo>
                <a:lnTo>
                  <a:pt x="947448" y="0"/>
                </a:lnTo>
                <a:lnTo>
                  <a:pt x="947448" y="947448"/>
                </a:lnTo>
                <a:lnTo>
                  <a:pt x="0" y="9474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5476496" y="6407220"/>
            <a:ext cx="8868773" cy="2392934"/>
          </a:xfrm>
          <a:prstGeom prst="rect">
            <a:avLst/>
          </a:prstGeom>
        </p:spPr>
        <p:txBody>
          <a:bodyPr anchor="t" rtlCol="false" tIns="0" lIns="0" bIns="0" rIns="0">
            <a:spAutoFit/>
          </a:bodyPr>
          <a:lstStyle/>
          <a:p>
            <a:pPr algn="just" marL="0" indent="0" lvl="0">
              <a:lnSpc>
                <a:spcPts val="3173"/>
              </a:lnSpc>
            </a:pPr>
            <a:r>
              <a:rPr lang="en-US" sz="2783">
                <a:solidFill>
                  <a:srgbClr val="005FC2"/>
                </a:solidFill>
                <a:latin typeface="Koho"/>
                <a:ea typeface="Koho"/>
                <a:cs typeface="Koho"/>
                <a:sym typeface="Koho"/>
              </a:rPr>
              <a:t>Shared Storage Between Pods: In microservices architectures, multiple pods often need to access the same data simultaneously. Without volumes, each container operates in isolation with no way to share files or data between pods, making collaborative workloads and data processing pipelines impossible to implement effectively.</a:t>
            </a:r>
          </a:p>
        </p:txBody>
      </p:sp>
      <p:sp>
        <p:nvSpPr>
          <p:cNvPr name="Freeform 8" id="8"/>
          <p:cNvSpPr/>
          <p:nvPr/>
        </p:nvSpPr>
        <p:spPr>
          <a:xfrm flipH="false" flipV="false" rot="0">
            <a:off x="4088248" y="7115739"/>
            <a:ext cx="947448" cy="947448"/>
          </a:xfrm>
          <a:custGeom>
            <a:avLst/>
            <a:gdLst/>
            <a:ahLst/>
            <a:cxnLst/>
            <a:rect r="r" b="b" t="t" l="l"/>
            <a:pathLst>
              <a:path h="947448" w="947448">
                <a:moveTo>
                  <a:pt x="0" y="0"/>
                </a:moveTo>
                <a:lnTo>
                  <a:pt x="947448" y="0"/>
                </a:lnTo>
                <a:lnTo>
                  <a:pt x="947448" y="947448"/>
                </a:lnTo>
                <a:lnTo>
                  <a:pt x="0" y="9474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619092" y="1105270"/>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549218" y="4190990"/>
            <a:ext cx="6025447" cy="4918271"/>
          </a:xfrm>
          <a:custGeom>
            <a:avLst/>
            <a:gdLst/>
            <a:ahLst/>
            <a:cxnLst/>
            <a:rect r="r" b="b" t="t" l="l"/>
            <a:pathLst>
              <a:path h="4918271" w="6025447">
                <a:moveTo>
                  <a:pt x="0" y="0"/>
                </a:moveTo>
                <a:lnTo>
                  <a:pt x="6025446" y="0"/>
                </a:lnTo>
                <a:lnTo>
                  <a:pt x="6025446" y="4918271"/>
                </a:lnTo>
                <a:lnTo>
                  <a:pt x="0" y="4918271"/>
                </a:lnTo>
                <a:lnTo>
                  <a:pt x="0" y="0"/>
                </a:lnTo>
                <a:close/>
              </a:path>
            </a:pathLst>
          </a:custGeom>
          <a:blipFill>
            <a:blip r:embed="rId4"/>
            <a:stretch>
              <a:fillRect l="0" t="0" r="0" b="0"/>
            </a:stretch>
          </a:blipFill>
        </p:spPr>
      </p:sp>
      <p:sp>
        <p:nvSpPr>
          <p:cNvPr name="TextBox 4" id="4"/>
          <p:cNvSpPr txBox="true"/>
          <p:nvPr/>
        </p:nvSpPr>
        <p:spPr>
          <a:xfrm rot="0">
            <a:off x="5614835" y="2096443"/>
            <a:ext cx="10894849" cy="758574"/>
          </a:xfrm>
          <a:prstGeom prst="rect">
            <a:avLst/>
          </a:prstGeom>
        </p:spPr>
        <p:txBody>
          <a:bodyPr anchor="t" rtlCol="false" tIns="0" lIns="0" bIns="0" rIns="0">
            <a:spAutoFit/>
          </a:bodyPr>
          <a:lstStyle/>
          <a:p>
            <a:pPr algn="l" marL="0" indent="0" lvl="0">
              <a:lnSpc>
                <a:spcPts val="5187"/>
              </a:lnSpc>
            </a:pPr>
            <a:r>
              <a:rPr lang="en-US" b="true" sz="4550">
                <a:solidFill>
                  <a:srgbClr val="005FC2"/>
                </a:solidFill>
                <a:latin typeface="Neo Tech Bold"/>
                <a:ea typeface="Neo Tech Bold"/>
                <a:cs typeface="Neo Tech Bold"/>
                <a:sym typeface="Neo Tech Bold"/>
              </a:rPr>
              <a:t>KUBERNETES STORAGE ARCHITECTURE</a:t>
            </a:r>
          </a:p>
        </p:txBody>
      </p:sp>
      <p:sp>
        <p:nvSpPr>
          <p:cNvPr name="TextBox 5" id="5"/>
          <p:cNvSpPr txBox="true"/>
          <p:nvPr/>
        </p:nvSpPr>
        <p:spPr>
          <a:xfrm rot="0">
            <a:off x="5614835" y="3879436"/>
            <a:ext cx="6552437" cy="4809269"/>
          </a:xfrm>
          <a:prstGeom prst="rect">
            <a:avLst/>
          </a:prstGeom>
        </p:spPr>
        <p:txBody>
          <a:bodyPr anchor="t" rtlCol="false" tIns="0" lIns="0" bIns="0" rIns="0">
            <a:spAutoFit/>
          </a:bodyPr>
          <a:lstStyle/>
          <a:p>
            <a:pPr algn="l" marL="0" indent="0" lvl="0">
              <a:lnSpc>
                <a:spcPts val="2721"/>
              </a:lnSpc>
            </a:pPr>
            <a:r>
              <a:rPr lang="en-US" sz="2387">
                <a:solidFill>
                  <a:srgbClr val="005FC2"/>
                </a:solidFill>
                <a:latin typeface="Koho"/>
                <a:ea typeface="Koho"/>
                <a:cs typeface="Koho"/>
                <a:sym typeface="Koho"/>
              </a:rPr>
              <a:t>Kubernetes provides a robust storage architecture with key components:</a:t>
            </a:r>
          </a:p>
          <a:p>
            <a:pPr algn="l" marL="0" indent="0" lvl="0">
              <a:lnSpc>
                <a:spcPts val="2721"/>
              </a:lnSpc>
            </a:pPr>
            <a:r>
              <a:rPr lang="en-US" sz="2387">
                <a:solidFill>
                  <a:srgbClr val="005FC2"/>
                </a:solidFill>
                <a:latin typeface="Koho"/>
                <a:ea typeface="Koho"/>
                <a:cs typeface="Koho"/>
                <a:sym typeface="Koho"/>
              </a:rPr>
              <a:t>• Persistent Volume (PV): Cluster-level storage resource provisioned by admins, independent of pod lifecycle</a:t>
            </a:r>
          </a:p>
          <a:p>
            <a:pPr algn="l" marL="0" indent="0" lvl="0">
              <a:lnSpc>
                <a:spcPts val="2721"/>
              </a:lnSpc>
            </a:pPr>
            <a:r>
              <a:rPr lang="en-US" sz="2387">
                <a:solidFill>
                  <a:srgbClr val="005FC2"/>
                </a:solidFill>
                <a:latin typeface="Koho"/>
                <a:ea typeface="Koho"/>
                <a:cs typeface="Koho"/>
                <a:sym typeface="Koho"/>
              </a:rPr>
              <a:t>• Persistent Volume Claim (PVC): User request for storage that binds to available PVs based on size and access modes</a:t>
            </a:r>
          </a:p>
          <a:p>
            <a:pPr algn="l" marL="0" indent="0" lvl="0">
              <a:lnSpc>
                <a:spcPts val="2721"/>
              </a:lnSpc>
            </a:pPr>
            <a:r>
              <a:rPr lang="en-US" sz="2387">
                <a:solidFill>
                  <a:srgbClr val="005FC2"/>
                </a:solidFill>
                <a:latin typeface="Koho"/>
                <a:ea typeface="Koho"/>
                <a:cs typeface="Koho"/>
                <a:sym typeface="Koho"/>
              </a:rPr>
              <a:t>• Storage Classes: Define different tiers of storage (SSD, HDD) with dynamic provisioning capabilities</a:t>
            </a:r>
          </a:p>
          <a:p>
            <a:pPr algn="l" marL="0" indent="0" lvl="0">
              <a:lnSpc>
                <a:spcPts val="2721"/>
              </a:lnSpc>
            </a:pPr>
            <a:r>
              <a:rPr lang="en-US" sz="2387">
                <a:solidFill>
                  <a:srgbClr val="005FC2"/>
                </a:solidFill>
                <a:latin typeface="Koho"/>
                <a:ea typeface="Koho"/>
                <a:cs typeface="Koho"/>
                <a:sym typeface="Koho"/>
              </a:rPr>
              <a:t>• CSI Drivers: Container Storage Interface plugins that connect K8s to external storage systems</a:t>
            </a:r>
          </a:p>
          <a:p>
            <a:pPr algn="l" marL="0" indent="0" lvl="0">
              <a:lnSpc>
                <a:spcPts val="2721"/>
              </a:lnSpc>
            </a:pPr>
            <a:r>
              <a:rPr lang="en-US" sz="2387">
                <a:solidFill>
                  <a:srgbClr val="005FC2"/>
                </a:solidFill>
                <a:latin typeface="Koho"/>
                <a:ea typeface="Koho"/>
                <a:cs typeface="Koho"/>
                <a:sym typeface="Koho"/>
              </a:rPr>
              <a:t>• Access Modes: ReadWriteOnce, ReadOnlyMany, ReadWriteMany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953809" y="1694644"/>
            <a:ext cx="10894849" cy="1108103"/>
          </a:xfrm>
          <a:prstGeom prst="rect">
            <a:avLst/>
          </a:prstGeom>
        </p:spPr>
        <p:txBody>
          <a:bodyPr anchor="t" rtlCol="false" tIns="0" lIns="0" bIns="0" rIns="0">
            <a:spAutoFit/>
          </a:bodyPr>
          <a:lstStyle/>
          <a:p>
            <a:pPr algn="ctr" marL="0" indent="0" lvl="0">
              <a:lnSpc>
                <a:spcPts val="7604"/>
              </a:lnSpc>
            </a:pPr>
            <a:r>
              <a:rPr lang="en-US" b="true" sz="6670">
                <a:solidFill>
                  <a:srgbClr val="005FC2"/>
                </a:solidFill>
                <a:latin typeface="Neo Tech Bold"/>
                <a:ea typeface="Neo Tech Bold"/>
                <a:cs typeface="Neo Tech Bold"/>
                <a:sym typeface="Neo Tech Bold"/>
              </a:rPr>
              <a:t>VOLUME TYPES OVERVIEW</a:t>
            </a:r>
          </a:p>
        </p:txBody>
      </p:sp>
      <p:sp>
        <p:nvSpPr>
          <p:cNvPr name="TextBox 3" id="3"/>
          <p:cNvSpPr txBox="true"/>
          <p:nvPr/>
        </p:nvSpPr>
        <p:spPr>
          <a:xfrm rot="0">
            <a:off x="7642726" y="5236464"/>
            <a:ext cx="4230126" cy="3579762"/>
          </a:xfrm>
          <a:prstGeom prst="rect">
            <a:avLst/>
          </a:prstGeom>
        </p:spPr>
        <p:txBody>
          <a:bodyPr anchor="t" rtlCol="false" tIns="0" lIns="0" bIns="0" rIns="0">
            <a:spAutoFit/>
          </a:bodyPr>
          <a:lstStyle/>
          <a:p>
            <a:pPr algn="l" marL="0" indent="0" lvl="0">
              <a:lnSpc>
                <a:spcPts val="2604"/>
              </a:lnSpc>
            </a:pPr>
            <a:r>
              <a:rPr lang="en-US" sz="2285">
                <a:solidFill>
                  <a:srgbClr val="005FC2"/>
                </a:solidFill>
                <a:latin typeface="Koho"/>
                <a:ea typeface="Koho"/>
                <a:cs typeface="Koho"/>
                <a:sym typeface="Koho"/>
              </a:rPr>
              <a:t>ConfigMap &amp; Secrets</a:t>
            </a:r>
          </a:p>
          <a:p>
            <a:pPr algn="l" marL="0" indent="0" lvl="0">
              <a:lnSpc>
                <a:spcPts val="2604"/>
              </a:lnSpc>
            </a:pPr>
            <a:r>
              <a:rPr lang="en-US" sz="2285">
                <a:solidFill>
                  <a:srgbClr val="005FC2"/>
                </a:solidFill>
                <a:latin typeface="Koho"/>
                <a:ea typeface="Koho"/>
                <a:cs typeface="Koho"/>
                <a:sym typeface="Koho"/>
              </a:rPr>
              <a:t>• ConfigMap mounts configuration data as files</a:t>
            </a:r>
          </a:p>
          <a:p>
            <a:pPr algn="l" marL="0" indent="0" lvl="0">
              <a:lnSpc>
                <a:spcPts val="2604"/>
              </a:lnSpc>
            </a:pPr>
            <a:r>
              <a:rPr lang="en-US" sz="2285">
                <a:solidFill>
                  <a:srgbClr val="005FC2"/>
                </a:solidFill>
                <a:latin typeface="Koho"/>
                <a:ea typeface="Koho"/>
                <a:cs typeface="Koho"/>
                <a:sym typeface="Koho"/>
              </a:rPr>
              <a:t>• Secrets store sensitive data like passwords &amp; tokens</a:t>
            </a:r>
          </a:p>
          <a:p>
            <a:pPr algn="l" marL="0" indent="0" lvl="0">
              <a:lnSpc>
                <a:spcPts val="2604"/>
              </a:lnSpc>
            </a:pPr>
            <a:r>
              <a:rPr lang="en-US" sz="2285">
                <a:solidFill>
                  <a:srgbClr val="005FC2"/>
                </a:solidFill>
                <a:latin typeface="Koho"/>
                <a:ea typeface="Koho"/>
                <a:cs typeface="Koho"/>
                <a:sym typeface="Koho"/>
              </a:rPr>
              <a:t>• Both mount as read-only volumes</a:t>
            </a:r>
          </a:p>
          <a:p>
            <a:pPr algn="l" marL="0" indent="0" lvl="0">
              <a:lnSpc>
                <a:spcPts val="2604"/>
              </a:lnSpc>
            </a:pPr>
            <a:r>
              <a:rPr lang="en-US" sz="2285">
                <a:solidFill>
                  <a:srgbClr val="005FC2"/>
                </a:solidFill>
                <a:latin typeface="Koho"/>
                <a:ea typeface="Koho"/>
                <a:cs typeface="Koho"/>
                <a:sym typeface="Koho"/>
              </a:rPr>
              <a:t>• Automatically updated when source changes</a:t>
            </a:r>
          </a:p>
          <a:p>
            <a:pPr algn="l" marL="0" indent="0" lvl="0">
              <a:lnSpc>
                <a:spcPts val="2604"/>
              </a:lnSpc>
            </a:pPr>
            <a:r>
              <a:rPr lang="en-US" sz="2285">
                <a:solidFill>
                  <a:srgbClr val="005FC2"/>
                </a:solidFill>
                <a:latin typeface="Koho"/>
                <a:ea typeface="Koho"/>
                <a:cs typeface="Koho"/>
                <a:sym typeface="Koho"/>
              </a:rPr>
              <a:t>• Ideal for application configuration</a:t>
            </a:r>
          </a:p>
        </p:txBody>
      </p:sp>
      <p:sp>
        <p:nvSpPr>
          <p:cNvPr name="Freeform 4" id="4"/>
          <p:cNvSpPr/>
          <p:nvPr/>
        </p:nvSpPr>
        <p:spPr>
          <a:xfrm flipH="true" flipV="false" rot="0">
            <a:off x="-3207360" y="-5086743"/>
            <a:ext cx="7161170" cy="10230243"/>
          </a:xfrm>
          <a:custGeom>
            <a:avLst/>
            <a:gdLst/>
            <a:ahLst/>
            <a:cxnLst/>
            <a:rect r="r" b="b" t="t" l="l"/>
            <a:pathLst>
              <a:path h="10230243" w="7161170">
                <a:moveTo>
                  <a:pt x="7161169" y="0"/>
                </a:moveTo>
                <a:lnTo>
                  <a:pt x="0" y="0"/>
                </a:lnTo>
                <a:lnTo>
                  <a:pt x="0" y="10230243"/>
                </a:lnTo>
                <a:lnTo>
                  <a:pt x="7161169" y="10230243"/>
                </a:lnTo>
                <a:lnTo>
                  <a:pt x="716116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3885569">
            <a:off x="15560500" y="4143179"/>
            <a:ext cx="7161170" cy="10230243"/>
          </a:xfrm>
          <a:custGeom>
            <a:avLst/>
            <a:gdLst/>
            <a:ahLst/>
            <a:cxnLst/>
            <a:rect r="r" b="b" t="t" l="l"/>
            <a:pathLst>
              <a:path h="10230243" w="7161170">
                <a:moveTo>
                  <a:pt x="7161169" y="0"/>
                </a:moveTo>
                <a:lnTo>
                  <a:pt x="0" y="0"/>
                </a:lnTo>
                <a:lnTo>
                  <a:pt x="0" y="10230242"/>
                </a:lnTo>
                <a:lnTo>
                  <a:pt x="7161169" y="10230242"/>
                </a:lnTo>
                <a:lnTo>
                  <a:pt x="716116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2229407" y="3838384"/>
            <a:ext cx="4656668" cy="3579762"/>
          </a:xfrm>
          <a:prstGeom prst="rect">
            <a:avLst/>
          </a:prstGeom>
        </p:spPr>
        <p:txBody>
          <a:bodyPr anchor="t" rtlCol="false" tIns="0" lIns="0" bIns="0" rIns="0">
            <a:spAutoFit/>
          </a:bodyPr>
          <a:lstStyle/>
          <a:p>
            <a:pPr algn="l" marL="0" indent="0" lvl="0">
              <a:lnSpc>
                <a:spcPts val="2604"/>
              </a:lnSpc>
            </a:pPr>
            <a:r>
              <a:rPr lang="en-US" sz="2285">
                <a:solidFill>
                  <a:srgbClr val="005FC2"/>
                </a:solidFill>
                <a:latin typeface="Koho"/>
                <a:ea typeface="Koho"/>
                <a:cs typeface="Koho"/>
                <a:sym typeface="Koho"/>
              </a:rPr>
              <a:t>NFS &amp; CSI Storage</a:t>
            </a:r>
          </a:p>
          <a:p>
            <a:pPr algn="l" marL="0" indent="0" lvl="0">
              <a:lnSpc>
                <a:spcPts val="2604"/>
              </a:lnSpc>
            </a:pPr>
            <a:r>
              <a:rPr lang="en-US" sz="2285">
                <a:solidFill>
                  <a:srgbClr val="005FC2"/>
                </a:solidFill>
                <a:latin typeface="Koho"/>
                <a:ea typeface="Koho"/>
                <a:cs typeface="Koho"/>
                <a:sym typeface="Koho"/>
              </a:rPr>
              <a:t>• NFS enables shared storage across nodes</a:t>
            </a:r>
          </a:p>
          <a:p>
            <a:pPr algn="l" marL="0" indent="0" lvl="0">
              <a:lnSpc>
                <a:spcPts val="2604"/>
              </a:lnSpc>
            </a:pPr>
            <a:r>
              <a:rPr lang="en-US" sz="2285">
                <a:solidFill>
                  <a:srgbClr val="005FC2"/>
                </a:solidFill>
                <a:latin typeface="Koho"/>
                <a:ea typeface="Koho"/>
                <a:cs typeface="Koho"/>
                <a:sym typeface="Koho"/>
              </a:rPr>
              <a:t>• Supports ReadWriteMany access mode</a:t>
            </a:r>
          </a:p>
          <a:p>
            <a:pPr algn="l" marL="0" indent="0" lvl="0">
              <a:lnSpc>
                <a:spcPts val="2604"/>
              </a:lnSpc>
            </a:pPr>
            <a:r>
              <a:rPr lang="en-US" sz="2285">
                <a:solidFill>
                  <a:srgbClr val="005FC2"/>
                </a:solidFill>
                <a:latin typeface="Koho"/>
                <a:ea typeface="Koho"/>
                <a:cs typeface="Koho"/>
                <a:sym typeface="Koho"/>
              </a:rPr>
              <a:t>• CSI provides standardized storage interface</a:t>
            </a:r>
          </a:p>
          <a:p>
            <a:pPr algn="l" marL="0" indent="0" lvl="0">
              <a:lnSpc>
                <a:spcPts val="2604"/>
              </a:lnSpc>
            </a:pPr>
            <a:r>
              <a:rPr lang="en-US" sz="2285">
                <a:solidFill>
                  <a:srgbClr val="005FC2"/>
                </a:solidFill>
                <a:latin typeface="Koho"/>
                <a:ea typeface="Koho"/>
                <a:cs typeface="Koho"/>
                <a:sym typeface="Koho"/>
              </a:rPr>
              <a:t>• Supports cloud providers (AWS EBS, Azure Disk)</a:t>
            </a:r>
          </a:p>
          <a:p>
            <a:pPr algn="l" marL="0" indent="0" lvl="0">
              <a:lnSpc>
                <a:spcPts val="2604"/>
              </a:lnSpc>
            </a:pPr>
            <a:r>
              <a:rPr lang="en-US" sz="2285">
                <a:solidFill>
                  <a:srgbClr val="005FC2"/>
                </a:solidFill>
                <a:latin typeface="Koho"/>
                <a:ea typeface="Koho"/>
                <a:cs typeface="Koho"/>
                <a:sym typeface="Koho"/>
              </a:rPr>
              <a:t>• Production-ready persistent storage</a:t>
            </a:r>
          </a:p>
        </p:txBody>
      </p:sp>
      <p:sp>
        <p:nvSpPr>
          <p:cNvPr name="TextBox 7" id="7"/>
          <p:cNvSpPr txBox="true"/>
          <p:nvPr/>
        </p:nvSpPr>
        <p:spPr>
          <a:xfrm rot="0">
            <a:off x="2629502" y="3838384"/>
            <a:ext cx="4656668" cy="3579762"/>
          </a:xfrm>
          <a:prstGeom prst="rect">
            <a:avLst/>
          </a:prstGeom>
        </p:spPr>
        <p:txBody>
          <a:bodyPr anchor="t" rtlCol="false" tIns="0" lIns="0" bIns="0" rIns="0">
            <a:spAutoFit/>
          </a:bodyPr>
          <a:lstStyle/>
          <a:p>
            <a:pPr algn="l" marL="0" indent="0" lvl="0">
              <a:lnSpc>
                <a:spcPts val="2604"/>
              </a:lnSpc>
            </a:pPr>
            <a:r>
              <a:rPr lang="en-US" sz="2285">
                <a:solidFill>
                  <a:srgbClr val="005FC2"/>
                </a:solidFill>
                <a:latin typeface="Koho"/>
                <a:ea typeface="Koho"/>
                <a:cs typeface="Koho"/>
                <a:sym typeface="Koho"/>
              </a:rPr>
              <a:t>emptyDir &amp; hostPath</a:t>
            </a:r>
          </a:p>
          <a:p>
            <a:pPr algn="l" marL="0" indent="0" lvl="0">
              <a:lnSpc>
                <a:spcPts val="2604"/>
              </a:lnSpc>
            </a:pPr>
            <a:r>
              <a:rPr lang="en-US" sz="2285">
                <a:solidFill>
                  <a:srgbClr val="005FC2"/>
                </a:solidFill>
                <a:latin typeface="Koho"/>
                <a:ea typeface="Koho"/>
                <a:cs typeface="Koho"/>
                <a:sym typeface="Koho"/>
              </a:rPr>
              <a:t>• emptyDir: Temporary storage tied to Pod lifecycle</a:t>
            </a:r>
          </a:p>
          <a:p>
            <a:pPr algn="l" marL="0" indent="0" lvl="0">
              <a:lnSpc>
                <a:spcPts val="2604"/>
              </a:lnSpc>
            </a:pPr>
            <a:r>
              <a:rPr lang="en-US" sz="2285">
                <a:solidFill>
                  <a:srgbClr val="005FC2"/>
                </a:solidFill>
                <a:latin typeface="Koho"/>
                <a:ea typeface="Koho"/>
                <a:cs typeface="Koho"/>
                <a:sym typeface="Koho"/>
              </a:rPr>
              <a:t>• Created when Pod starts, deleted when Pod ends</a:t>
            </a:r>
          </a:p>
          <a:p>
            <a:pPr algn="l" marL="0" indent="0" lvl="0">
              <a:lnSpc>
                <a:spcPts val="2604"/>
              </a:lnSpc>
            </a:pPr>
            <a:r>
              <a:rPr lang="en-US" sz="2285">
                <a:solidFill>
                  <a:srgbClr val="005FC2"/>
                </a:solidFill>
                <a:latin typeface="Koho"/>
                <a:ea typeface="Koho"/>
                <a:cs typeface="Koho"/>
                <a:sym typeface="Koho"/>
              </a:rPr>
              <a:t>• hostPath: Mounts host node filesystem path</a:t>
            </a:r>
          </a:p>
          <a:p>
            <a:pPr algn="l" marL="0" indent="0" lvl="0">
              <a:lnSpc>
                <a:spcPts val="2604"/>
              </a:lnSpc>
            </a:pPr>
            <a:r>
              <a:rPr lang="en-US" sz="2285">
                <a:solidFill>
                  <a:srgbClr val="005FC2"/>
                </a:solidFill>
                <a:latin typeface="Koho"/>
                <a:ea typeface="Koho"/>
                <a:cs typeface="Koho"/>
                <a:sym typeface="Koho"/>
              </a:rPr>
              <a:t>• Data persists beyond Pod but node-specific</a:t>
            </a:r>
          </a:p>
          <a:p>
            <a:pPr algn="l" marL="0" indent="0" lvl="0">
              <a:lnSpc>
                <a:spcPts val="2604"/>
              </a:lnSpc>
            </a:pPr>
            <a:r>
              <a:rPr lang="en-US" sz="2285">
                <a:solidFill>
                  <a:srgbClr val="005FC2"/>
                </a:solidFill>
                <a:latin typeface="Koho"/>
                <a:ea typeface="Koho"/>
                <a:cs typeface="Koho"/>
                <a:sym typeface="Koho"/>
              </a:rPr>
              <a:t>• Use cases: caching, logs, shared data</a:t>
            </a:r>
          </a:p>
        </p:txBody>
      </p:sp>
      <p:sp>
        <p:nvSpPr>
          <p:cNvPr name="Freeform 8" id="8"/>
          <p:cNvSpPr/>
          <p:nvPr/>
        </p:nvSpPr>
        <p:spPr>
          <a:xfrm flipH="false" flipV="false" rot="0">
            <a:off x="3953809" y="7660195"/>
            <a:ext cx="679170" cy="679170"/>
          </a:xfrm>
          <a:custGeom>
            <a:avLst/>
            <a:gdLst/>
            <a:ahLst/>
            <a:cxnLst/>
            <a:rect r="r" b="b" t="t" l="l"/>
            <a:pathLst>
              <a:path h="679170" w="679170">
                <a:moveTo>
                  <a:pt x="0" y="0"/>
                </a:moveTo>
                <a:lnTo>
                  <a:pt x="679170" y="0"/>
                </a:lnTo>
                <a:lnTo>
                  <a:pt x="679170" y="679170"/>
                </a:lnTo>
                <a:lnTo>
                  <a:pt x="0" y="6791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509074" y="7660195"/>
            <a:ext cx="679170" cy="679170"/>
          </a:xfrm>
          <a:custGeom>
            <a:avLst/>
            <a:gdLst/>
            <a:ahLst/>
            <a:cxnLst/>
            <a:rect r="r" b="b" t="t" l="l"/>
            <a:pathLst>
              <a:path h="679170" w="679170">
                <a:moveTo>
                  <a:pt x="0" y="0"/>
                </a:moveTo>
                <a:lnTo>
                  <a:pt x="679169" y="0"/>
                </a:lnTo>
                <a:lnTo>
                  <a:pt x="679169" y="679170"/>
                </a:lnTo>
                <a:lnTo>
                  <a:pt x="0" y="6791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9061649" y="4391102"/>
            <a:ext cx="679170" cy="679170"/>
          </a:xfrm>
          <a:custGeom>
            <a:avLst/>
            <a:gdLst/>
            <a:ahLst/>
            <a:cxnLst/>
            <a:rect r="r" b="b" t="t" l="l"/>
            <a:pathLst>
              <a:path h="679170" w="679170">
                <a:moveTo>
                  <a:pt x="0" y="0"/>
                </a:moveTo>
                <a:lnTo>
                  <a:pt x="679170" y="0"/>
                </a:lnTo>
                <a:lnTo>
                  <a:pt x="679170" y="679169"/>
                </a:lnTo>
                <a:lnTo>
                  <a:pt x="0" y="6791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696575" y="1488837"/>
            <a:ext cx="10894849" cy="1238210"/>
          </a:xfrm>
          <a:prstGeom prst="rect">
            <a:avLst/>
          </a:prstGeom>
        </p:spPr>
        <p:txBody>
          <a:bodyPr anchor="t" rtlCol="false" tIns="0" lIns="0" bIns="0" rIns="0">
            <a:spAutoFit/>
          </a:bodyPr>
          <a:lstStyle/>
          <a:p>
            <a:pPr algn="ctr" marL="0" indent="0" lvl="0">
              <a:lnSpc>
                <a:spcPts val="8543"/>
              </a:lnSpc>
            </a:pPr>
            <a:r>
              <a:rPr lang="en-US" b="true" sz="7494">
                <a:solidFill>
                  <a:srgbClr val="005FC2"/>
                </a:solidFill>
                <a:latin typeface="Neo Tech Bold"/>
                <a:ea typeface="Neo Tech Bold"/>
                <a:cs typeface="Neo Tech Bold"/>
                <a:sym typeface="Neo Tech Bold"/>
              </a:rPr>
              <a:t>NFS &amp; CSI STORAGE</a:t>
            </a:r>
          </a:p>
        </p:txBody>
      </p:sp>
      <p:sp>
        <p:nvSpPr>
          <p:cNvPr name="TextBox 3" id="3"/>
          <p:cNvSpPr txBox="true"/>
          <p:nvPr/>
        </p:nvSpPr>
        <p:spPr>
          <a:xfrm rot="0">
            <a:off x="5403738" y="3309309"/>
            <a:ext cx="8868773" cy="2393046"/>
          </a:xfrm>
          <a:prstGeom prst="rect">
            <a:avLst/>
          </a:prstGeom>
        </p:spPr>
        <p:txBody>
          <a:bodyPr anchor="t" rtlCol="false" tIns="0" lIns="0" bIns="0" rIns="0">
            <a:spAutoFit/>
          </a:bodyPr>
          <a:lstStyle/>
          <a:p>
            <a:pPr algn="just" marL="0" indent="0" lvl="0">
              <a:lnSpc>
                <a:spcPts val="3189"/>
              </a:lnSpc>
            </a:pPr>
            <a:r>
              <a:rPr lang="en-US" sz="2798">
                <a:solidFill>
                  <a:srgbClr val="005FC2"/>
                </a:solidFill>
                <a:latin typeface="Koho"/>
                <a:ea typeface="Koho"/>
                <a:cs typeface="Koho"/>
                <a:sym typeface="Koho"/>
              </a:rPr>
              <a:t>NFS (Network File System) enables shared storage across multiple pods and nodes. It provides a centralized storage solution where data persists independently of pod lifecycle. NFS volumes can be mounted simultaneously by multiple pods, making it ideal for applications requiring shared access to files across the cluster.</a:t>
            </a:r>
          </a:p>
        </p:txBody>
      </p:sp>
      <p:sp>
        <p:nvSpPr>
          <p:cNvPr name="Freeform 4" id="4"/>
          <p:cNvSpPr/>
          <p:nvPr/>
        </p:nvSpPr>
        <p:spPr>
          <a:xfrm flipH="false" flipV="false" rot="-7720815">
            <a:off x="-5386022" y="5635688"/>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8367064">
            <a:off x="10341117" y="-1585888"/>
            <a:ext cx="13836366" cy="7245224"/>
          </a:xfrm>
          <a:custGeom>
            <a:avLst/>
            <a:gdLst/>
            <a:ahLst/>
            <a:cxnLst/>
            <a:rect r="r" b="b" t="t" l="l"/>
            <a:pathLst>
              <a:path h="7245224" w="13836366">
                <a:moveTo>
                  <a:pt x="13836366" y="0"/>
                </a:moveTo>
                <a:lnTo>
                  <a:pt x="0" y="0"/>
                </a:lnTo>
                <a:lnTo>
                  <a:pt x="0" y="7245225"/>
                </a:lnTo>
                <a:lnTo>
                  <a:pt x="13836366" y="7245225"/>
                </a:lnTo>
                <a:lnTo>
                  <a:pt x="1383636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015489" y="4017828"/>
            <a:ext cx="947448" cy="947448"/>
          </a:xfrm>
          <a:custGeom>
            <a:avLst/>
            <a:gdLst/>
            <a:ahLst/>
            <a:cxnLst/>
            <a:rect r="r" b="b" t="t" l="l"/>
            <a:pathLst>
              <a:path h="947448" w="947448">
                <a:moveTo>
                  <a:pt x="0" y="0"/>
                </a:moveTo>
                <a:lnTo>
                  <a:pt x="947448" y="0"/>
                </a:lnTo>
                <a:lnTo>
                  <a:pt x="947448" y="947448"/>
                </a:lnTo>
                <a:lnTo>
                  <a:pt x="0" y="9474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5476496" y="6407220"/>
            <a:ext cx="8868773" cy="2393046"/>
          </a:xfrm>
          <a:prstGeom prst="rect">
            <a:avLst/>
          </a:prstGeom>
        </p:spPr>
        <p:txBody>
          <a:bodyPr anchor="t" rtlCol="false" tIns="0" lIns="0" bIns="0" rIns="0">
            <a:spAutoFit/>
          </a:bodyPr>
          <a:lstStyle/>
          <a:p>
            <a:pPr algn="just" marL="0" indent="0" lvl="0">
              <a:lnSpc>
                <a:spcPts val="3189"/>
              </a:lnSpc>
            </a:pPr>
            <a:r>
              <a:rPr lang="en-US" sz="2798">
                <a:solidFill>
                  <a:srgbClr val="005FC2"/>
                </a:solidFill>
                <a:latin typeface="Koho"/>
                <a:ea typeface="Koho"/>
                <a:cs typeface="Koho"/>
                <a:sym typeface="Koho"/>
              </a:rPr>
              <a:t>CSI (Container Storage Interface) is the standard for exposing storage systems to Kubernetes. It allows storage vendors to develop plugins independently of Kubernetes core code. CSI drivers enable dynamic provisioning, snapshots, and cloning capabilities, providing enterprise-grade storage features for production workloads.</a:t>
            </a:r>
          </a:p>
        </p:txBody>
      </p:sp>
      <p:sp>
        <p:nvSpPr>
          <p:cNvPr name="Freeform 8" id="8"/>
          <p:cNvSpPr/>
          <p:nvPr/>
        </p:nvSpPr>
        <p:spPr>
          <a:xfrm flipH="false" flipV="false" rot="0">
            <a:off x="4088248" y="7115739"/>
            <a:ext cx="947448" cy="947448"/>
          </a:xfrm>
          <a:custGeom>
            <a:avLst/>
            <a:gdLst/>
            <a:ahLst/>
            <a:cxnLst/>
            <a:rect r="r" b="b" t="t" l="l"/>
            <a:pathLst>
              <a:path h="947448" w="947448">
                <a:moveTo>
                  <a:pt x="0" y="0"/>
                </a:moveTo>
                <a:lnTo>
                  <a:pt x="947448" y="0"/>
                </a:lnTo>
                <a:lnTo>
                  <a:pt x="947448" y="947448"/>
                </a:lnTo>
                <a:lnTo>
                  <a:pt x="0" y="9474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5FC2"/>
        </a:solidFill>
      </p:bgPr>
    </p:bg>
    <p:spTree>
      <p:nvGrpSpPr>
        <p:cNvPr id="1" name=""/>
        <p:cNvGrpSpPr/>
        <p:nvPr/>
      </p:nvGrpSpPr>
      <p:grpSpPr>
        <a:xfrm>
          <a:off x="0" y="0"/>
          <a:ext cx="0" cy="0"/>
          <a:chOff x="0" y="0"/>
          <a:chExt cx="0" cy="0"/>
        </a:xfrm>
      </p:grpSpPr>
      <p:grpSp>
        <p:nvGrpSpPr>
          <p:cNvPr name="Group 2" id="2"/>
          <p:cNvGrpSpPr/>
          <p:nvPr/>
        </p:nvGrpSpPr>
        <p:grpSpPr>
          <a:xfrm rot="0">
            <a:off x="1456048" y="3785953"/>
            <a:ext cx="10894849" cy="4698362"/>
            <a:chOff x="0" y="0"/>
            <a:chExt cx="971835" cy="419100"/>
          </a:xfrm>
        </p:grpSpPr>
        <p:sp>
          <p:nvSpPr>
            <p:cNvPr name="Freeform 3" id="3"/>
            <p:cNvSpPr/>
            <p:nvPr/>
          </p:nvSpPr>
          <p:spPr>
            <a:xfrm flipH="false" flipV="false" rot="0">
              <a:off x="0" y="0"/>
              <a:ext cx="971835" cy="419100"/>
            </a:xfrm>
            <a:custGeom>
              <a:avLst/>
              <a:gdLst/>
              <a:ahLst/>
              <a:cxnLst/>
              <a:rect r="r" b="b" t="t" l="l"/>
              <a:pathLst>
                <a:path h="419100" w="971835">
                  <a:moveTo>
                    <a:pt x="0" y="0"/>
                  </a:moveTo>
                  <a:lnTo>
                    <a:pt x="971835" y="0"/>
                  </a:lnTo>
                  <a:lnTo>
                    <a:pt x="971835" y="419100"/>
                  </a:lnTo>
                  <a:lnTo>
                    <a:pt x="0" y="419100"/>
                  </a:lnTo>
                  <a:close/>
                </a:path>
              </a:pathLst>
            </a:custGeom>
            <a:solidFill>
              <a:srgbClr val="005FC2"/>
            </a:solidFill>
          </p:spPr>
        </p:sp>
        <p:sp>
          <p:nvSpPr>
            <p:cNvPr name="TextBox 4" id="4"/>
            <p:cNvSpPr txBox="true"/>
            <p:nvPr/>
          </p:nvSpPr>
          <p:spPr>
            <a:xfrm>
              <a:off x="0" y="-38100"/>
              <a:ext cx="971835" cy="4572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5400000">
            <a:off x="-4714869" y="1520888"/>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372344" y="2690387"/>
            <a:ext cx="5246370" cy="5793929"/>
            <a:chOff x="0" y="0"/>
            <a:chExt cx="812800" cy="897631"/>
          </a:xfrm>
        </p:grpSpPr>
        <p:sp>
          <p:nvSpPr>
            <p:cNvPr name="Freeform 7" id="7"/>
            <p:cNvSpPr/>
            <p:nvPr/>
          </p:nvSpPr>
          <p:spPr>
            <a:xfrm flipH="false" flipV="false" rot="0">
              <a:off x="0" y="0"/>
              <a:ext cx="812800" cy="897631"/>
            </a:xfrm>
            <a:custGeom>
              <a:avLst/>
              <a:gdLst/>
              <a:ahLst/>
              <a:cxnLst/>
              <a:rect r="r" b="b" t="t" l="l"/>
              <a:pathLst>
                <a:path h="897631" w="812800">
                  <a:moveTo>
                    <a:pt x="33940" y="0"/>
                  </a:moveTo>
                  <a:lnTo>
                    <a:pt x="778860" y="0"/>
                  </a:lnTo>
                  <a:cubicBezTo>
                    <a:pt x="797604" y="0"/>
                    <a:pt x="812800" y="15196"/>
                    <a:pt x="812800" y="33940"/>
                  </a:cubicBezTo>
                  <a:lnTo>
                    <a:pt x="812800" y="863691"/>
                  </a:lnTo>
                  <a:cubicBezTo>
                    <a:pt x="812800" y="882436"/>
                    <a:pt x="797604" y="897631"/>
                    <a:pt x="778860" y="897631"/>
                  </a:cubicBezTo>
                  <a:lnTo>
                    <a:pt x="33940" y="897631"/>
                  </a:lnTo>
                  <a:cubicBezTo>
                    <a:pt x="15196" y="897631"/>
                    <a:pt x="0" y="882436"/>
                    <a:pt x="0" y="863691"/>
                  </a:cubicBezTo>
                  <a:lnTo>
                    <a:pt x="0" y="33940"/>
                  </a:lnTo>
                  <a:cubicBezTo>
                    <a:pt x="0" y="15196"/>
                    <a:pt x="15196" y="0"/>
                    <a:pt x="33940" y="0"/>
                  </a:cubicBezTo>
                  <a:close/>
                </a:path>
              </a:pathLst>
            </a:custGeom>
            <a:blipFill>
              <a:blip r:embed="rId4"/>
              <a:stretch>
                <a:fillRect l="-5218" t="0" r="-5218" b="0"/>
              </a:stretch>
            </a:blipFill>
          </p:spPr>
        </p:sp>
      </p:grpSp>
      <p:sp>
        <p:nvSpPr>
          <p:cNvPr name="TextBox 8" id="8"/>
          <p:cNvSpPr txBox="true"/>
          <p:nvPr/>
        </p:nvSpPr>
        <p:spPr>
          <a:xfrm rot="0">
            <a:off x="7247116" y="5291155"/>
            <a:ext cx="9668540" cy="3193034"/>
          </a:xfrm>
          <a:prstGeom prst="rect">
            <a:avLst/>
          </a:prstGeom>
        </p:spPr>
        <p:txBody>
          <a:bodyPr anchor="t" rtlCol="false" tIns="0" lIns="0" bIns="0" rIns="0">
            <a:spAutoFit/>
          </a:bodyPr>
          <a:lstStyle/>
          <a:p>
            <a:pPr algn="l" marL="0" indent="0" lvl="0">
              <a:lnSpc>
                <a:spcPts val="3173"/>
              </a:lnSpc>
            </a:pPr>
            <a:r>
              <a:rPr lang="en-US" sz="2783">
                <a:solidFill>
                  <a:srgbClr val="FFFFFF"/>
                </a:solidFill>
                <a:latin typeface="Koho"/>
                <a:ea typeface="Koho"/>
                <a:cs typeface="Koho"/>
                <a:sym typeface="Koho"/>
              </a:rPr>
              <a:t>A Volume is a persistent storage abstraction in Kubernetes that outlives the container lifecycle.</a:t>
            </a:r>
          </a:p>
          <a:p>
            <a:pPr algn="l" marL="0" indent="0" lvl="0">
              <a:lnSpc>
                <a:spcPts val="3173"/>
              </a:lnSpc>
            </a:pPr>
            <a:r>
              <a:rPr lang="en-US" sz="2783">
                <a:solidFill>
                  <a:srgbClr val="FFFFFF"/>
                </a:solidFill>
                <a:latin typeface="Koho"/>
                <a:ea typeface="Koho"/>
                <a:cs typeface="Koho"/>
                <a:sym typeface="Koho"/>
              </a:rPr>
              <a:t>• Directory accessible to containers in a Pod</a:t>
            </a:r>
          </a:p>
          <a:p>
            <a:pPr algn="l" marL="0" indent="0" lvl="0">
              <a:lnSpc>
                <a:spcPts val="3173"/>
              </a:lnSpc>
            </a:pPr>
            <a:r>
              <a:rPr lang="en-US" sz="2783">
                <a:solidFill>
                  <a:srgbClr val="FFFFFF"/>
                </a:solidFill>
                <a:latin typeface="Koho"/>
                <a:ea typeface="Koho"/>
                <a:cs typeface="Koho"/>
                <a:sym typeface="Koho"/>
              </a:rPr>
              <a:t>• Data persists across container restarts</a:t>
            </a:r>
          </a:p>
          <a:p>
            <a:pPr algn="l" marL="0" indent="0" lvl="0">
              <a:lnSpc>
                <a:spcPts val="3173"/>
              </a:lnSpc>
            </a:pPr>
            <a:r>
              <a:rPr lang="en-US" sz="2783">
                <a:solidFill>
                  <a:srgbClr val="FFFFFF"/>
                </a:solidFill>
                <a:latin typeface="Koho"/>
                <a:ea typeface="Koho"/>
                <a:cs typeface="Koho"/>
                <a:sym typeface="Koho"/>
              </a:rPr>
              <a:t>• Decouples storage from container lifecycle</a:t>
            </a:r>
          </a:p>
          <a:p>
            <a:pPr algn="l" marL="0" indent="0" lvl="0">
              <a:lnSpc>
                <a:spcPts val="3173"/>
              </a:lnSpc>
            </a:pPr>
            <a:r>
              <a:rPr lang="en-US" sz="2783">
                <a:solidFill>
                  <a:srgbClr val="FFFFFF"/>
                </a:solidFill>
                <a:latin typeface="Koho"/>
                <a:ea typeface="Koho"/>
                <a:cs typeface="Koho"/>
                <a:sym typeface="Koho"/>
              </a:rPr>
              <a:t>• Can be backed by various storage types (local, network, cloud)</a:t>
            </a:r>
          </a:p>
          <a:p>
            <a:pPr algn="l" marL="0" indent="0" lvl="0">
              <a:lnSpc>
                <a:spcPts val="3173"/>
              </a:lnSpc>
            </a:pPr>
            <a:r>
              <a:rPr lang="en-US" sz="2783">
                <a:solidFill>
                  <a:srgbClr val="FFFFFF"/>
                </a:solidFill>
                <a:latin typeface="Koho"/>
                <a:ea typeface="Koho"/>
                <a:cs typeface="Koho"/>
                <a:sym typeface="Koho"/>
              </a:rPr>
              <a:t>• Mounted at specified paths within containers</a:t>
            </a:r>
          </a:p>
          <a:p>
            <a:pPr algn="l" marL="0" indent="0" lvl="0">
              <a:lnSpc>
                <a:spcPts val="3173"/>
              </a:lnSpc>
            </a:pPr>
            <a:r>
              <a:rPr lang="en-US" sz="2783">
                <a:solidFill>
                  <a:srgbClr val="FFFFFF"/>
                </a:solidFill>
                <a:latin typeface="Koho"/>
                <a:ea typeface="Koho"/>
                <a:cs typeface="Koho"/>
                <a:sym typeface="Koho"/>
              </a:rPr>
              <a:t>• Enables data sharing between containers in the same Pod</a:t>
            </a:r>
          </a:p>
        </p:txBody>
      </p:sp>
      <p:sp>
        <p:nvSpPr>
          <p:cNvPr name="TextBox 9" id="9"/>
          <p:cNvSpPr txBox="true"/>
          <p:nvPr/>
        </p:nvSpPr>
        <p:spPr>
          <a:xfrm rot="0">
            <a:off x="7247116" y="2699952"/>
            <a:ext cx="8282278" cy="2314535"/>
          </a:xfrm>
          <a:prstGeom prst="rect">
            <a:avLst/>
          </a:prstGeom>
        </p:spPr>
        <p:txBody>
          <a:bodyPr anchor="t" rtlCol="false" tIns="0" lIns="0" bIns="0" rIns="0">
            <a:spAutoFit/>
          </a:bodyPr>
          <a:lstStyle/>
          <a:p>
            <a:pPr algn="l" marL="0" indent="0" lvl="0">
              <a:lnSpc>
                <a:spcPts val="8543"/>
              </a:lnSpc>
            </a:pPr>
            <a:r>
              <a:rPr lang="en-US" b="true" sz="7494">
                <a:solidFill>
                  <a:srgbClr val="FFFFFF"/>
                </a:solidFill>
                <a:latin typeface="Neo Tech Bold"/>
                <a:ea typeface="Neo Tech Bold"/>
                <a:cs typeface="Neo Tech Bold"/>
                <a:sym typeface="Neo Tech Bold"/>
              </a:rPr>
              <a:t>WHAT IS A VOLUME?</a:t>
            </a:r>
          </a:p>
        </p:txBody>
      </p:sp>
      <p:sp>
        <p:nvSpPr>
          <p:cNvPr name="Freeform 10" id="10"/>
          <p:cNvSpPr/>
          <p:nvPr/>
        </p:nvSpPr>
        <p:spPr>
          <a:xfrm flipH="false" flipV="false" rot="-8596510">
            <a:off x="11034248" y="-1404779"/>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5FC2"/>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7221231" y="1520888"/>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2384810" y="2397377"/>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605314" y="4479361"/>
            <a:ext cx="837057" cy="837057"/>
          </a:xfrm>
          <a:custGeom>
            <a:avLst/>
            <a:gdLst/>
            <a:ahLst/>
            <a:cxnLst/>
            <a:rect r="r" b="b" t="t" l="l"/>
            <a:pathLst>
              <a:path h="837057" w="837057">
                <a:moveTo>
                  <a:pt x="0" y="0"/>
                </a:moveTo>
                <a:lnTo>
                  <a:pt x="837057" y="0"/>
                </a:lnTo>
                <a:lnTo>
                  <a:pt x="837057" y="837057"/>
                </a:lnTo>
                <a:lnTo>
                  <a:pt x="0" y="837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4336389" y="1587629"/>
            <a:ext cx="9615222" cy="1238250"/>
          </a:xfrm>
          <a:prstGeom prst="rect">
            <a:avLst/>
          </a:prstGeom>
        </p:spPr>
        <p:txBody>
          <a:bodyPr anchor="t" rtlCol="false" tIns="0" lIns="0" bIns="0" rIns="0">
            <a:spAutoFit/>
          </a:bodyPr>
          <a:lstStyle/>
          <a:p>
            <a:pPr algn="ctr" marL="0" indent="0" lvl="0">
              <a:lnSpc>
                <a:spcPts val="8549"/>
              </a:lnSpc>
            </a:pPr>
            <a:r>
              <a:rPr lang="en-US" b="true" sz="7500">
                <a:solidFill>
                  <a:srgbClr val="FFFFFF"/>
                </a:solidFill>
                <a:latin typeface="Neo Tech Bold"/>
                <a:ea typeface="Neo Tech Bold"/>
                <a:cs typeface="Neo Tech Bold"/>
                <a:sym typeface="Neo Tech Bold"/>
              </a:rPr>
              <a:t>EMPTYDIR VOLUME</a:t>
            </a:r>
          </a:p>
        </p:txBody>
      </p:sp>
      <p:sp>
        <p:nvSpPr>
          <p:cNvPr name="TextBox 6" id="6"/>
          <p:cNvSpPr txBox="true"/>
          <p:nvPr/>
        </p:nvSpPr>
        <p:spPr>
          <a:xfrm rot="0">
            <a:off x="4813846" y="4296672"/>
            <a:ext cx="10580784" cy="1153568"/>
          </a:xfrm>
          <a:prstGeom prst="rect">
            <a:avLst/>
          </a:prstGeom>
        </p:spPr>
        <p:txBody>
          <a:bodyPr anchor="t" rtlCol="false" tIns="0" lIns="0" bIns="0" rIns="0">
            <a:spAutoFit/>
          </a:bodyPr>
          <a:lstStyle/>
          <a:p>
            <a:pPr algn="l" marL="0" indent="0" lvl="0">
              <a:lnSpc>
                <a:spcPts val="3005"/>
              </a:lnSpc>
            </a:pPr>
            <a:r>
              <a:rPr lang="en-US" sz="2636">
                <a:solidFill>
                  <a:srgbClr val="FFFFFF"/>
                </a:solidFill>
                <a:latin typeface="Koho"/>
                <a:ea typeface="Koho"/>
                <a:cs typeface="Koho"/>
                <a:sym typeface="Koho"/>
              </a:rPr>
              <a:t>Created when a Pod is assigned to a Node and exists as long as the Pod runs on that node. Initially empty, all containers in the Pod can read/write the same files. Data is deleted permanently when Pod is removed.</a:t>
            </a:r>
          </a:p>
        </p:txBody>
      </p:sp>
      <p:sp>
        <p:nvSpPr>
          <p:cNvPr name="TextBox 7" id="7"/>
          <p:cNvSpPr txBox="true"/>
          <p:nvPr/>
        </p:nvSpPr>
        <p:spPr>
          <a:xfrm rot="0">
            <a:off x="4813846" y="5837300"/>
            <a:ext cx="10580784" cy="1153568"/>
          </a:xfrm>
          <a:prstGeom prst="rect">
            <a:avLst/>
          </a:prstGeom>
        </p:spPr>
        <p:txBody>
          <a:bodyPr anchor="t" rtlCol="false" tIns="0" lIns="0" bIns="0" rIns="0">
            <a:spAutoFit/>
          </a:bodyPr>
          <a:lstStyle/>
          <a:p>
            <a:pPr algn="l" marL="0" indent="0" lvl="0">
              <a:lnSpc>
                <a:spcPts val="3005"/>
              </a:lnSpc>
            </a:pPr>
            <a:r>
              <a:rPr lang="en-US" sz="2636">
                <a:solidFill>
                  <a:srgbClr val="FFFFFF"/>
                </a:solidFill>
                <a:latin typeface="Koho"/>
                <a:ea typeface="Koho"/>
                <a:cs typeface="Koho"/>
                <a:sym typeface="Koho"/>
              </a:rPr>
              <a:t>Use Cases: Scratch space for sorting algorithms, checkpointing long computations, holding files that a content-manager container fetches while a webserver container serves the data.</a:t>
            </a:r>
          </a:p>
        </p:txBody>
      </p:sp>
      <p:sp>
        <p:nvSpPr>
          <p:cNvPr name="TextBox 8" id="8"/>
          <p:cNvSpPr txBox="true"/>
          <p:nvPr/>
        </p:nvSpPr>
        <p:spPr>
          <a:xfrm rot="0">
            <a:off x="4813846" y="7382635"/>
            <a:ext cx="10580784" cy="1153568"/>
          </a:xfrm>
          <a:prstGeom prst="rect">
            <a:avLst/>
          </a:prstGeom>
        </p:spPr>
        <p:txBody>
          <a:bodyPr anchor="t" rtlCol="false" tIns="0" lIns="0" bIns="0" rIns="0">
            <a:spAutoFit/>
          </a:bodyPr>
          <a:lstStyle/>
          <a:p>
            <a:pPr algn="l" marL="0" indent="0" lvl="0">
              <a:lnSpc>
                <a:spcPts val="3005"/>
              </a:lnSpc>
            </a:pPr>
            <a:r>
              <a:rPr lang="en-US" sz="2636">
                <a:solidFill>
                  <a:srgbClr val="FFFFFF"/>
                </a:solidFill>
                <a:latin typeface="Koho"/>
                <a:ea typeface="Koho"/>
                <a:cs typeface="Koho"/>
                <a:sym typeface="Koho"/>
              </a:rPr>
              <a:t>Key Limitation: Data does NOT persist beyond Pod lifecycle. If the Pod crashes, restarts, or is rescheduled to another node, all data in emptyDir is lost permanently.</a:t>
            </a:r>
          </a:p>
        </p:txBody>
      </p:sp>
      <p:sp>
        <p:nvSpPr>
          <p:cNvPr name="Freeform 9" id="9"/>
          <p:cNvSpPr/>
          <p:nvPr/>
        </p:nvSpPr>
        <p:spPr>
          <a:xfrm flipH="false" flipV="false" rot="0">
            <a:off x="3605314" y="6019989"/>
            <a:ext cx="837057" cy="837057"/>
          </a:xfrm>
          <a:custGeom>
            <a:avLst/>
            <a:gdLst/>
            <a:ahLst/>
            <a:cxnLst/>
            <a:rect r="r" b="b" t="t" l="l"/>
            <a:pathLst>
              <a:path h="837057" w="837057">
                <a:moveTo>
                  <a:pt x="0" y="0"/>
                </a:moveTo>
                <a:lnTo>
                  <a:pt x="837057" y="0"/>
                </a:lnTo>
                <a:lnTo>
                  <a:pt x="837057" y="837057"/>
                </a:lnTo>
                <a:lnTo>
                  <a:pt x="0" y="837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3689881" y="7657146"/>
            <a:ext cx="837057" cy="837057"/>
          </a:xfrm>
          <a:custGeom>
            <a:avLst/>
            <a:gdLst/>
            <a:ahLst/>
            <a:cxnLst/>
            <a:rect r="r" b="b" t="t" l="l"/>
            <a:pathLst>
              <a:path h="837057" w="837057">
                <a:moveTo>
                  <a:pt x="0" y="0"/>
                </a:moveTo>
                <a:lnTo>
                  <a:pt x="837057" y="0"/>
                </a:lnTo>
                <a:lnTo>
                  <a:pt x="837057" y="837057"/>
                </a:lnTo>
                <a:lnTo>
                  <a:pt x="0" y="837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5FC2"/>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7221231" y="1520888"/>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2384810" y="2397377"/>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546399" y="4420467"/>
            <a:ext cx="837057" cy="839155"/>
          </a:xfrm>
          <a:custGeom>
            <a:avLst/>
            <a:gdLst/>
            <a:ahLst/>
            <a:cxnLst/>
            <a:rect r="r" b="b" t="t" l="l"/>
            <a:pathLst>
              <a:path h="839155" w="837057">
                <a:moveTo>
                  <a:pt x="0" y="0"/>
                </a:moveTo>
                <a:lnTo>
                  <a:pt x="837057" y="0"/>
                </a:lnTo>
                <a:lnTo>
                  <a:pt x="837057" y="839155"/>
                </a:lnTo>
                <a:lnTo>
                  <a:pt x="0" y="839155"/>
                </a:lnTo>
                <a:lnTo>
                  <a:pt x="0" y="0"/>
                </a:lnTo>
                <a:close/>
              </a:path>
            </a:pathLst>
          </a:custGeom>
          <a:blipFill>
            <a:blip r:embed="rId4"/>
            <a:stretch>
              <a:fillRect l="0" t="0" r="0" b="0"/>
            </a:stretch>
          </a:blipFill>
        </p:spPr>
      </p:sp>
      <p:sp>
        <p:nvSpPr>
          <p:cNvPr name="TextBox 5" id="5"/>
          <p:cNvSpPr txBox="true"/>
          <p:nvPr/>
        </p:nvSpPr>
        <p:spPr>
          <a:xfrm rot="0">
            <a:off x="4336389" y="1587629"/>
            <a:ext cx="9615222" cy="2314575"/>
          </a:xfrm>
          <a:prstGeom prst="rect">
            <a:avLst/>
          </a:prstGeom>
        </p:spPr>
        <p:txBody>
          <a:bodyPr anchor="t" rtlCol="false" tIns="0" lIns="0" bIns="0" rIns="0">
            <a:spAutoFit/>
          </a:bodyPr>
          <a:lstStyle/>
          <a:p>
            <a:pPr algn="ctr" marL="0" indent="0" lvl="0">
              <a:lnSpc>
                <a:spcPts val="8549"/>
              </a:lnSpc>
            </a:pPr>
            <a:r>
              <a:rPr lang="en-US" b="true" sz="7500">
                <a:solidFill>
                  <a:srgbClr val="FFFFFF"/>
                </a:solidFill>
                <a:latin typeface="Neo Tech Bold"/>
                <a:ea typeface="Neo Tech Bold"/>
                <a:cs typeface="Neo Tech Bold"/>
                <a:sym typeface="Neo Tech Bold"/>
              </a:rPr>
              <a:t>CONFIGMAP &amp; SECRETS</a:t>
            </a:r>
          </a:p>
        </p:txBody>
      </p:sp>
      <p:sp>
        <p:nvSpPr>
          <p:cNvPr name="TextBox 6" id="6"/>
          <p:cNvSpPr txBox="true"/>
          <p:nvPr/>
        </p:nvSpPr>
        <p:spPr>
          <a:xfrm rot="0">
            <a:off x="4813846" y="4315722"/>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ConfigMap: Inject configuration data as environment variables or files into pods. Decouples configuration from container images for portability.</a:t>
            </a:r>
          </a:p>
        </p:txBody>
      </p:sp>
      <p:sp>
        <p:nvSpPr>
          <p:cNvPr name="TextBox 7" id="7"/>
          <p:cNvSpPr txBox="true"/>
          <p:nvPr/>
        </p:nvSpPr>
        <p:spPr>
          <a:xfrm rot="0">
            <a:off x="4813846" y="5856350"/>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Secrets: Store sensitive data like passwords, tokens, and keys. Base64 encoded and can be mounted as files or environment variables.</a:t>
            </a:r>
          </a:p>
        </p:txBody>
      </p:sp>
      <p:sp>
        <p:nvSpPr>
          <p:cNvPr name="TextBox 8" id="8"/>
          <p:cNvSpPr txBox="true"/>
          <p:nvPr/>
        </p:nvSpPr>
        <p:spPr>
          <a:xfrm rot="0">
            <a:off x="4813846" y="7401685"/>
            <a:ext cx="10580784" cy="1192911"/>
          </a:xfrm>
          <a:prstGeom prst="rect">
            <a:avLst/>
          </a:prstGeom>
        </p:spPr>
        <p:txBody>
          <a:bodyPr anchor="t" rtlCol="false" tIns="0" lIns="0" bIns="0" rIns="0">
            <a:spAutoFit/>
          </a:bodyPr>
          <a:lstStyle/>
          <a:p>
            <a:pPr algn="l" marL="0" indent="0" lvl="0">
              <a:lnSpc>
                <a:spcPts val="3191"/>
              </a:lnSpc>
            </a:pPr>
            <a:r>
              <a:rPr lang="en-US" sz="2799">
                <a:solidFill>
                  <a:srgbClr val="FFFFFF"/>
                </a:solidFill>
                <a:latin typeface="Koho"/>
                <a:ea typeface="Koho"/>
                <a:cs typeface="Koho"/>
                <a:sym typeface="Koho"/>
              </a:rPr>
              <a:t>Best Practice: Never hardcode credentials in images. Use ConfigMaps for non-sensitive config and Secrets for sensitive data with RBAC controls.</a:t>
            </a:r>
          </a:p>
        </p:txBody>
      </p:sp>
      <p:sp>
        <p:nvSpPr>
          <p:cNvPr name="Freeform 9" id="9"/>
          <p:cNvSpPr/>
          <p:nvPr/>
        </p:nvSpPr>
        <p:spPr>
          <a:xfrm flipH="false" flipV="false" rot="0">
            <a:off x="3642105" y="5914472"/>
            <a:ext cx="669918" cy="864825"/>
          </a:xfrm>
          <a:custGeom>
            <a:avLst/>
            <a:gdLst/>
            <a:ahLst/>
            <a:cxnLst/>
            <a:rect r="r" b="b" t="t" l="l"/>
            <a:pathLst>
              <a:path h="864825" w="669918">
                <a:moveTo>
                  <a:pt x="0" y="0"/>
                </a:moveTo>
                <a:lnTo>
                  <a:pt x="669918" y="0"/>
                </a:lnTo>
                <a:lnTo>
                  <a:pt x="669918" y="864825"/>
                </a:lnTo>
                <a:lnTo>
                  <a:pt x="0" y="864825"/>
                </a:lnTo>
                <a:lnTo>
                  <a:pt x="0" y="0"/>
                </a:lnTo>
                <a:close/>
              </a:path>
            </a:pathLst>
          </a:custGeom>
          <a:blipFill>
            <a:blip r:embed="rId5"/>
            <a:stretch>
              <a:fillRect l="0" t="0" r="0" b="0"/>
            </a:stretch>
          </a:blipFill>
        </p:spPr>
      </p:sp>
      <p:sp>
        <p:nvSpPr>
          <p:cNvPr name="Freeform 10" id="10"/>
          <p:cNvSpPr/>
          <p:nvPr/>
        </p:nvSpPr>
        <p:spPr>
          <a:xfrm flipH="false" flipV="false" rot="0">
            <a:off x="3708000" y="7642541"/>
            <a:ext cx="706730" cy="833197"/>
          </a:xfrm>
          <a:custGeom>
            <a:avLst/>
            <a:gdLst/>
            <a:ahLst/>
            <a:cxnLst/>
            <a:rect r="r" b="b" t="t" l="l"/>
            <a:pathLst>
              <a:path h="833197" w="706730">
                <a:moveTo>
                  <a:pt x="0" y="0"/>
                </a:moveTo>
                <a:lnTo>
                  <a:pt x="706729" y="0"/>
                </a:lnTo>
                <a:lnTo>
                  <a:pt x="706729" y="833197"/>
                </a:lnTo>
                <a:lnTo>
                  <a:pt x="0" y="833197"/>
                </a:lnTo>
                <a:lnTo>
                  <a:pt x="0" y="0"/>
                </a:lnTo>
                <a:close/>
              </a:path>
            </a:pathLst>
          </a:custGeom>
          <a:blipFill>
            <a:blip r:embed="rId6"/>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977272" y="686317"/>
            <a:ext cx="12653147" cy="7212294"/>
          </a:xfrm>
          <a:custGeom>
            <a:avLst/>
            <a:gdLst/>
            <a:ahLst/>
            <a:cxnLst/>
            <a:rect r="r" b="b" t="t" l="l"/>
            <a:pathLst>
              <a:path h="7212294" w="12653147">
                <a:moveTo>
                  <a:pt x="0" y="0"/>
                </a:moveTo>
                <a:lnTo>
                  <a:pt x="12653146" y="0"/>
                </a:lnTo>
                <a:lnTo>
                  <a:pt x="12653146" y="7212294"/>
                </a:lnTo>
                <a:lnTo>
                  <a:pt x="0" y="7212294"/>
                </a:lnTo>
                <a:lnTo>
                  <a:pt x="0" y="0"/>
                </a:lnTo>
                <a:close/>
              </a:path>
            </a:pathLst>
          </a:custGeom>
          <a:blipFill>
            <a:blip r:embed="rId2"/>
            <a:stretch>
              <a:fillRect l="0" t="0" r="0" b="0"/>
            </a:stretch>
          </a:blipFill>
        </p:spPr>
      </p:sp>
      <p:sp>
        <p:nvSpPr>
          <p:cNvPr name="Freeform 3" id="3"/>
          <p:cNvSpPr/>
          <p:nvPr/>
        </p:nvSpPr>
        <p:spPr>
          <a:xfrm flipH="false" flipV="false" rot="0">
            <a:off x="11994234" y="4070311"/>
            <a:ext cx="5083971" cy="4906032"/>
          </a:xfrm>
          <a:custGeom>
            <a:avLst/>
            <a:gdLst/>
            <a:ahLst/>
            <a:cxnLst/>
            <a:rect r="r" b="b" t="t" l="l"/>
            <a:pathLst>
              <a:path h="4906032" w="5083971">
                <a:moveTo>
                  <a:pt x="0" y="0"/>
                </a:moveTo>
                <a:lnTo>
                  <a:pt x="5083970" y="0"/>
                </a:lnTo>
                <a:lnTo>
                  <a:pt x="5083970" y="4906031"/>
                </a:lnTo>
                <a:lnTo>
                  <a:pt x="0" y="4906031"/>
                </a:lnTo>
                <a:lnTo>
                  <a:pt x="0" y="0"/>
                </a:lnTo>
                <a:close/>
              </a:path>
            </a:pathLst>
          </a:custGeom>
          <a:blipFill>
            <a:blip r:embed="rId3"/>
            <a:stretch>
              <a:fillRect l="0" t="0" r="0" b="0"/>
            </a:stretch>
          </a:blipFill>
        </p:spPr>
      </p:sp>
      <p:sp>
        <p:nvSpPr>
          <p:cNvPr name="TextBox 4" id="4"/>
          <p:cNvSpPr txBox="true"/>
          <p:nvPr/>
        </p:nvSpPr>
        <p:spPr>
          <a:xfrm rot="0">
            <a:off x="5614835" y="2058343"/>
            <a:ext cx="10894849" cy="1238210"/>
          </a:xfrm>
          <a:prstGeom prst="rect">
            <a:avLst/>
          </a:prstGeom>
        </p:spPr>
        <p:txBody>
          <a:bodyPr anchor="t" rtlCol="false" tIns="0" lIns="0" bIns="0" rIns="0">
            <a:spAutoFit/>
          </a:bodyPr>
          <a:lstStyle/>
          <a:p>
            <a:pPr algn="l" marL="0" indent="0" lvl="0">
              <a:lnSpc>
                <a:spcPts val="8543"/>
              </a:lnSpc>
            </a:pPr>
            <a:r>
              <a:rPr lang="en-US" b="true" sz="7494">
                <a:solidFill>
                  <a:srgbClr val="005FC2"/>
                </a:solidFill>
                <a:latin typeface="Neo Tech Bold"/>
                <a:ea typeface="Neo Tech Bold"/>
                <a:cs typeface="Neo Tech Bold"/>
                <a:sym typeface="Neo Tech Bold"/>
              </a:rPr>
              <a:t>DEMO ARCHITECTURE</a:t>
            </a:r>
          </a:p>
        </p:txBody>
      </p:sp>
      <p:sp>
        <p:nvSpPr>
          <p:cNvPr name="TextBox 5" id="5"/>
          <p:cNvSpPr txBox="true"/>
          <p:nvPr/>
        </p:nvSpPr>
        <p:spPr>
          <a:xfrm rot="0">
            <a:off x="5614835" y="3888961"/>
            <a:ext cx="6552437" cy="4705499"/>
          </a:xfrm>
          <a:prstGeom prst="rect">
            <a:avLst/>
          </a:prstGeom>
        </p:spPr>
        <p:txBody>
          <a:bodyPr anchor="t" rtlCol="false" tIns="0" lIns="0" bIns="0" rIns="0">
            <a:spAutoFit/>
          </a:bodyPr>
          <a:lstStyle/>
          <a:p>
            <a:pPr algn="l" marL="0" indent="0" lvl="0">
              <a:lnSpc>
                <a:spcPts val="2872"/>
              </a:lnSpc>
            </a:pPr>
            <a:r>
              <a:rPr lang="en-US" sz="2519">
                <a:solidFill>
                  <a:srgbClr val="005FC2"/>
                </a:solidFill>
                <a:latin typeface="Koho"/>
                <a:ea typeface="Koho"/>
                <a:cs typeface="Koho"/>
                <a:sym typeface="Koho"/>
              </a:rPr>
              <a:t>Our demo environment consists of three key scenarios to illustrate Kubernetes storage concepts:</a:t>
            </a:r>
          </a:p>
          <a:p>
            <a:pPr algn="l" marL="0" indent="0" lvl="0">
              <a:lnSpc>
                <a:spcPts val="2872"/>
              </a:lnSpc>
            </a:pPr>
            <a:r>
              <a:rPr lang="en-US" sz="2519">
                <a:solidFill>
                  <a:srgbClr val="005FC2"/>
                </a:solidFill>
                <a:latin typeface="Koho"/>
                <a:ea typeface="Koho"/>
                <a:cs typeface="Koho"/>
                <a:sym typeface="Koho"/>
              </a:rPr>
              <a:t>• emptyDir Demo: Two pods sharing temporary storage, demonstrating data loss on pod restart</a:t>
            </a:r>
          </a:p>
          <a:p>
            <a:pPr algn="l" marL="0" indent="0" lvl="0">
              <a:lnSpc>
                <a:spcPts val="2872"/>
              </a:lnSpc>
            </a:pPr>
            <a:r>
              <a:rPr lang="en-US" sz="2519">
                <a:solidFill>
                  <a:srgbClr val="005FC2"/>
                </a:solidFill>
                <a:latin typeface="Koho"/>
                <a:ea typeface="Koho"/>
                <a:cs typeface="Koho"/>
                <a:sym typeface="Koho"/>
              </a:rPr>
              <a:t>• hostPath Demo: Pod accessing node filesystem, showing node dependency limitations</a:t>
            </a:r>
          </a:p>
          <a:p>
            <a:pPr algn="l" marL="0" indent="0" lvl="0">
              <a:lnSpc>
                <a:spcPts val="2872"/>
              </a:lnSpc>
            </a:pPr>
            <a:r>
              <a:rPr lang="en-US" sz="2519">
                <a:solidFill>
                  <a:srgbClr val="005FC2"/>
                </a:solidFill>
                <a:latin typeface="Koho"/>
                <a:ea typeface="Koho"/>
                <a:cs typeface="Koho"/>
                <a:sym typeface="Koho"/>
              </a:rPr>
              <a:t>• NFS Demo: Multiple pods across nodes sharing persistent NFS storage</a:t>
            </a:r>
          </a:p>
          <a:p>
            <a:pPr algn="l" marL="0" indent="0" lvl="0">
              <a:lnSpc>
                <a:spcPts val="2872"/>
              </a:lnSpc>
            </a:pPr>
            <a:r>
              <a:rPr lang="en-US" sz="2519">
                <a:solidFill>
                  <a:srgbClr val="005FC2"/>
                </a:solidFill>
                <a:latin typeface="Koho"/>
                <a:ea typeface="Koho"/>
                <a:cs typeface="Koho"/>
                <a:sym typeface="Koho"/>
              </a:rPr>
              <a:t>Each scenario uses a simple web application writing and reading data to demonstrate storage behavior in real-time.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341974" y="4178708"/>
            <a:ext cx="8975409" cy="1592946"/>
          </a:xfrm>
          <a:prstGeom prst="rect">
            <a:avLst/>
          </a:prstGeom>
        </p:spPr>
        <p:txBody>
          <a:bodyPr anchor="t" rtlCol="false" tIns="0" lIns="0" bIns="0" rIns="0">
            <a:spAutoFit/>
          </a:bodyPr>
          <a:lstStyle/>
          <a:p>
            <a:pPr algn="l" marL="0" indent="0" lvl="0">
              <a:lnSpc>
                <a:spcPts val="3189"/>
              </a:lnSpc>
            </a:pPr>
            <a:r>
              <a:rPr lang="en-US" sz="2798">
                <a:solidFill>
                  <a:srgbClr val="005FC2"/>
                </a:solidFill>
                <a:latin typeface="Koho"/>
                <a:ea typeface="Koho"/>
                <a:cs typeface="Koho"/>
                <a:sym typeface="Koho"/>
              </a:rPr>
              <a:t>Data Loss on Pod Restart: When the pod was deleted and recreated, all data stored in emptyDir was completely lost. This demonstrates that emptyDir storage is ephemeral and tied to the pod lifecycle, not the container lifecycle.</a:t>
            </a:r>
          </a:p>
        </p:txBody>
      </p:sp>
      <p:sp>
        <p:nvSpPr>
          <p:cNvPr name="Freeform 3" id="3"/>
          <p:cNvSpPr/>
          <p:nvPr/>
        </p:nvSpPr>
        <p:spPr>
          <a:xfrm flipH="true" flipV="false" rot="-10149532">
            <a:off x="-3580585" y="4143179"/>
            <a:ext cx="7161170" cy="10230243"/>
          </a:xfrm>
          <a:custGeom>
            <a:avLst/>
            <a:gdLst/>
            <a:ahLst/>
            <a:cxnLst/>
            <a:rect r="r" b="b" t="t" l="l"/>
            <a:pathLst>
              <a:path h="10230243" w="7161170">
                <a:moveTo>
                  <a:pt x="7161170" y="0"/>
                </a:moveTo>
                <a:lnTo>
                  <a:pt x="0" y="0"/>
                </a:lnTo>
                <a:lnTo>
                  <a:pt x="0" y="10230242"/>
                </a:lnTo>
                <a:lnTo>
                  <a:pt x="7161170" y="10230242"/>
                </a:lnTo>
                <a:lnTo>
                  <a:pt x="716117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129211">
            <a:off x="14707415" y="-4280324"/>
            <a:ext cx="7161170" cy="10230243"/>
          </a:xfrm>
          <a:custGeom>
            <a:avLst/>
            <a:gdLst/>
            <a:ahLst/>
            <a:cxnLst/>
            <a:rect r="r" b="b" t="t" l="l"/>
            <a:pathLst>
              <a:path h="10230243" w="7161170">
                <a:moveTo>
                  <a:pt x="7161170" y="0"/>
                </a:moveTo>
                <a:lnTo>
                  <a:pt x="0" y="0"/>
                </a:lnTo>
                <a:lnTo>
                  <a:pt x="0" y="10230242"/>
                </a:lnTo>
                <a:lnTo>
                  <a:pt x="7161170" y="10230242"/>
                </a:lnTo>
                <a:lnTo>
                  <a:pt x="716117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68172" y="3532411"/>
            <a:ext cx="5670082" cy="5208447"/>
          </a:xfrm>
          <a:custGeom>
            <a:avLst/>
            <a:gdLst/>
            <a:ahLst/>
            <a:cxnLst/>
            <a:rect r="r" b="b" t="t" l="l"/>
            <a:pathLst>
              <a:path h="5208447" w="5670082">
                <a:moveTo>
                  <a:pt x="0" y="0"/>
                </a:moveTo>
                <a:lnTo>
                  <a:pt x="5670081" y="0"/>
                </a:lnTo>
                <a:lnTo>
                  <a:pt x="5670081" y="5208446"/>
                </a:lnTo>
                <a:lnTo>
                  <a:pt x="0" y="5208446"/>
                </a:lnTo>
                <a:lnTo>
                  <a:pt x="0" y="0"/>
                </a:lnTo>
                <a:close/>
              </a:path>
            </a:pathLst>
          </a:custGeom>
          <a:blipFill>
            <a:blip r:embed="rId4"/>
            <a:stretch>
              <a:fillRect l="0" t="0" r="0" b="0"/>
            </a:stretch>
          </a:blipFill>
        </p:spPr>
      </p:sp>
      <p:sp>
        <p:nvSpPr>
          <p:cNvPr name="TextBox 6" id="6"/>
          <p:cNvSpPr txBox="true"/>
          <p:nvPr/>
        </p:nvSpPr>
        <p:spPr>
          <a:xfrm rot="0">
            <a:off x="3622883" y="1246437"/>
            <a:ext cx="10894849" cy="2314535"/>
          </a:xfrm>
          <a:prstGeom prst="rect">
            <a:avLst/>
          </a:prstGeom>
        </p:spPr>
        <p:txBody>
          <a:bodyPr anchor="t" rtlCol="false" tIns="0" lIns="0" bIns="0" rIns="0">
            <a:spAutoFit/>
          </a:bodyPr>
          <a:lstStyle/>
          <a:p>
            <a:pPr algn="ctr" marL="0" indent="0" lvl="0">
              <a:lnSpc>
                <a:spcPts val="8543"/>
              </a:lnSpc>
            </a:pPr>
            <a:r>
              <a:rPr lang="en-US" b="true" sz="7494">
                <a:solidFill>
                  <a:srgbClr val="005FC2"/>
                </a:solidFill>
                <a:latin typeface="Neo Tech Bold"/>
                <a:ea typeface="Neo Tech Bold"/>
                <a:cs typeface="Neo Tech Bold"/>
                <a:sym typeface="Neo Tech Bold"/>
              </a:rPr>
              <a:t>DEMO RESULTS: EMPTYDIR</a:t>
            </a:r>
          </a:p>
        </p:txBody>
      </p:sp>
      <p:sp>
        <p:nvSpPr>
          <p:cNvPr name="TextBox 7" id="7"/>
          <p:cNvSpPr txBox="true"/>
          <p:nvPr/>
        </p:nvSpPr>
        <p:spPr>
          <a:xfrm rot="0">
            <a:off x="7341974" y="6578754"/>
            <a:ext cx="8975409" cy="1992996"/>
          </a:xfrm>
          <a:prstGeom prst="rect">
            <a:avLst/>
          </a:prstGeom>
        </p:spPr>
        <p:txBody>
          <a:bodyPr anchor="t" rtlCol="false" tIns="0" lIns="0" bIns="0" rIns="0">
            <a:spAutoFit/>
          </a:bodyPr>
          <a:lstStyle/>
          <a:p>
            <a:pPr algn="l" marL="0" indent="0" lvl="0">
              <a:lnSpc>
                <a:spcPts val="3189"/>
              </a:lnSpc>
            </a:pPr>
            <a:r>
              <a:rPr lang="en-US" sz="2798">
                <a:solidFill>
                  <a:srgbClr val="005FC2"/>
                </a:solidFill>
                <a:latin typeface="Koho"/>
                <a:ea typeface="Koho"/>
                <a:cs typeface="Koho"/>
                <a:sym typeface="Koho"/>
              </a:rPr>
              <a:t>Inconsistency Across Replicas: When scaling to multiple replicas, each pod received its own separate emptyDir volume. Data written by one pod was not visible to other pods, causing data inconsistency in distributed applications.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5FC2"/>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6918183" y="5888904"/>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454424" y="1459858"/>
            <a:ext cx="3804876" cy="3547520"/>
            <a:chOff x="0" y="0"/>
            <a:chExt cx="812800" cy="757823"/>
          </a:xfrm>
        </p:grpSpPr>
        <p:sp>
          <p:nvSpPr>
            <p:cNvPr name="Freeform 4" id="4"/>
            <p:cNvSpPr/>
            <p:nvPr/>
          </p:nvSpPr>
          <p:spPr>
            <a:xfrm flipH="false" flipV="false" rot="0">
              <a:off x="0" y="0"/>
              <a:ext cx="812800" cy="757823"/>
            </a:xfrm>
            <a:custGeom>
              <a:avLst/>
              <a:gdLst/>
              <a:ahLst/>
              <a:cxnLst/>
              <a:rect r="r" b="b" t="t" l="l"/>
              <a:pathLst>
                <a:path h="757823" w="812800">
                  <a:moveTo>
                    <a:pt x="46799" y="0"/>
                  </a:moveTo>
                  <a:lnTo>
                    <a:pt x="766001" y="0"/>
                  </a:lnTo>
                  <a:cubicBezTo>
                    <a:pt x="791847" y="0"/>
                    <a:pt x="812800" y="20953"/>
                    <a:pt x="812800" y="46799"/>
                  </a:cubicBezTo>
                  <a:lnTo>
                    <a:pt x="812800" y="711024"/>
                  </a:lnTo>
                  <a:cubicBezTo>
                    <a:pt x="812800" y="736871"/>
                    <a:pt x="791847" y="757823"/>
                    <a:pt x="766001" y="757823"/>
                  </a:cubicBezTo>
                  <a:lnTo>
                    <a:pt x="46799" y="757823"/>
                  </a:lnTo>
                  <a:cubicBezTo>
                    <a:pt x="20953" y="757823"/>
                    <a:pt x="0" y="736871"/>
                    <a:pt x="0" y="711024"/>
                  </a:cubicBezTo>
                  <a:lnTo>
                    <a:pt x="0" y="46799"/>
                  </a:lnTo>
                  <a:cubicBezTo>
                    <a:pt x="0" y="20953"/>
                    <a:pt x="20953" y="0"/>
                    <a:pt x="46799" y="0"/>
                  </a:cubicBezTo>
                  <a:close/>
                </a:path>
              </a:pathLst>
            </a:custGeom>
            <a:blipFill>
              <a:blip r:embed="rId4"/>
              <a:stretch>
                <a:fillRect l="0" t="-3627" r="0" b="-3627"/>
              </a:stretch>
            </a:blipFill>
          </p:spPr>
        </p:sp>
      </p:grpSp>
      <p:grpSp>
        <p:nvGrpSpPr>
          <p:cNvPr name="Group 5" id="5"/>
          <p:cNvGrpSpPr/>
          <p:nvPr/>
        </p:nvGrpSpPr>
        <p:grpSpPr>
          <a:xfrm rot="0">
            <a:off x="13454424" y="5279623"/>
            <a:ext cx="3804876" cy="3547520"/>
            <a:chOff x="0" y="0"/>
            <a:chExt cx="812800" cy="757823"/>
          </a:xfrm>
        </p:grpSpPr>
        <p:sp>
          <p:nvSpPr>
            <p:cNvPr name="Freeform 6" id="6"/>
            <p:cNvSpPr/>
            <p:nvPr/>
          </p:nvSpPr>
          <p:spPr>
            <a:xfrm flipH="false" flipV="false" rot="0">
              <a:off x="0" y="0"/>
              <a:ext cx="812800" cy="757823"/>
            </a:xfrm>
            <a:custGeom>
              <a:avLst/>
              <a:gdLst/>
              <a:ahLst/>
              <a:cxnLst/>
              <a:rect r="r" b="b" t="t" l="l"/>
              <a:pathLst>
                <a:path h="757823" w="812800">
                  <a:moveTo>
                    <a:pt x="46799" y="0"/>
                  </a:moveTo>
                  <a:lnTo>
                    <a:pt x="766001" y="0"/>
                  </a:lnTo>
                  <a:cubicBezTo>
                    <a:pt x="791847" y="0"/>
                    <a:pt x="812800" y="20953"/>
                    <a:pt x="812800" y="46799"/>
                  </a:cubicBezTo>
                  <a:lnTo>
                    <a:pt x="812800" y="711024"/>
                  </a:lnTo>
                  <a:cubicBezTo>
                    <a:pt x="812800" y="736871"/>
                    <a:pt x="791847" y="757823"/>
                    <a:pt x="766001" y="757823"/>
                  </a:cubicBezTo>
                  <a:lnTo>
                    <a:pt x="46799" y="757823"/>
                  </a:lnTo>
                  <a:cubicBezTo>
                    <a:pt x="20953" y="757823"/>
                    <a:pt x="0" y="736871"/>
                    <a:pt x="0" y="711024"/>
                  </a:cubicBezTo>
                  <a:lnTo>
                    <a:pt x="0" y="46799"/>
                  </a:lnTo>
                  <a:cubicBezTo>
                    <a:pt x="0" y="20953"/>
                    <a:pt x="20953" y="0"/>
                    <a:pt x="46799" y="0"/>
                  </a:cubicBezTo>
                  <a:close/>
                </a:path>
              </a:pathLst>
            </a:custGeom>
            <a:blipFill>
              <a:blip r:embed="rId5"/>
              <a:stretch>
                <a:fillRect l="0" t="-3627" r="0" b="-3627"/>
              </a:stretch>
            </a:blipFill>
          </p:spPr>
        </p:sp>
      </p:grpSp>
      <p:sp>
        <p:nvSpPr>
          <p:cNvPr name="Freeform 7" id="7"/>
          <p:cNvSpPr/>
          <p:nvPr/>
        </p:nvSpPr>
        <p:spPr>
          <a:xfrm flipH="false" flipV="false" rot="0">
            <a:off x="1829272" y="3519317"/>
            <a:ext cx="679170" cy="679170"/>
          </a:xfrm>
          <a:custGeom>
            <a:avLst/>
            <a:gdLst/>
            <a:ahLst/>
            <a:cxnLst/>
            <a:rect r="r" b="b" t="t" l="l"/>
            <a:pathLst>
              <a:path h="679170" w="679170">
                <a:moveTo>
                  <a:pt x="0" y="0"/>
                </a:moveTo>
                <a:lnTo>
                  <a:pt x="679170" y="0"/>
                </a:lnTo>
                <a:lnTo>
                  <a:pt x="679170" y="679170"/>
                </a:lnTo>
                <a:lnTo>
                  <a:pt x="0" y="6791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829272" y="5478561"/>
            <a:ext cx="679170" cy="679170"/>
          </a:xfrm>
          <a:custGeom>
            <a:avLst/>
            <a:gdLst/>
            <a:ahLst/>
            <a:cxnLst/>
            <a:rect r="r" b="b" t="t" l="l"/>
            <a:pathLst>
              <a:path h="679170" w="679170">
                <a:moveTo>
                  <a:pt x="0" y="0"/>
                </a:moveTo>
                <a:lnTo>
                  <a:pt x="679170" y="0"/>
                </a:lnTo>
                <a:lnTo>
                  <a:pt x="679170" y="679169"/>
                </a:lnTo>
                <a:lnTo>
                  <a:pt x="0" y="6791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829272" y="7433472"/>
            <a:ext cx="679170" cy="679170"/>
          </a:xfrm>
          <a:custGeom>
            <a:avLst/>
            <a:gdLst/>
            <a:ahLst/>
            <a:cxnLst/>
            <a:rect r="r" b="b" t="t" l="l"/>
            <a:pathLst>
              <a:path h="679170" w="679170">
                <a:moveTo>
                  <a:pt x="0" y="0"/>
                </a:moveTo>
                <a:lnTo>
                  <a:pt x="679170" y="0"/>
                </a:lnTo>
                <a:lnTo>
                  <a:pt x="679170" y="679169"/>
                </a:lnTo>
                <a:lnTo>
                  <a:pt x="0" y="6791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1829272" y="1355083"/>
            <a:ext cx="10894849" cy="1238210"/>
          </a:xfrm>
          <a:prstGeom prst="rect">
            <a:avLst/>
          </a:prstGeom>
        </p:spPr>
        <p:txBody>
          <a:bodyPr anchor="t" rtlCol="false" tIns="0" lIns="0" bIns="0" rIns="0">
            <a:spAutoFit/>
          </a:bodyPr>
          <a:lstStyle/>
          <a:p>
            <a:pPr algn="l" marL="0" indent="0" lvl="0">
              <a:lnSpc>
                <a:spcPts val="8543"/>
              </a:lnSpc>
            </a:pPr>
            <a:r>
              <a:rPr lang="en-US" b="true" sz="7494">
                <a:solidFill>
                  <a:srgbClr val="FFFFFF"/>
                </a:solidFill>
                <a:latin typeface="Neo Tech Bold"/>
                <a:ea typeface="Neo Tech Bold"/>
                <a:cs typeface="Neo Tech Bold"/>
                <a:sym typeface="Neo Tech Bold"/>
              </a:rPr>
              <a:t>BEST PRACTICES</a:t>
            </a:r>
          </a:p>
        </p:txBody>
      </p:sp>
      <p:sp>
        <p:nvSpPr>
          <p:cNvPr name="TextBox 11" id="11"/>
          <p:cNvSpPr txBox="true"/>
          <p:nvPr/>
        </p:nvSpPr>
        <p:spPr>
          <a:xfrm rot="0">
            <a:off x="2895628" y="3076709"/>
            <a:ext cx="10148400" cy="1592946"/>
          </a:xfrm>
          <a:prstGeom prst="rect">
            <a:avLst/>
          </a:prstGeom>
        </p:spPr>
        <p:txBody>
          <a:bodyPr anchor="t" rtlCol="false" tIns="0" lIns="0" bIns="0" rIns="0">
            <a:spAutoFit/>
          </a:bodyPr>
          <a:lstStyle/>
          <a:p>
            <a:pPr algn="l" marL="0" indent="0" lvl="0">
              <a:lnSpc>
                <a:spcPts val="3189"/>
              </a:lnSpc>
            </a:pPr>
            <a:r>
              <a:rPr lang="en-US" sz="2798">
                <a:solidFill>
                  <a:srgbClr val="FFFFFF"/>
                </a:solidFill>
                <a:latin typeface="Koho"/>
                <a:ea typeface="Koho"/>
                <a:cs typeface="Koho"/>
                <a:sym typeface="Koho"/>
              </a:rPr>
              <a:t>Choose the Right Volume Type: Select emptyDir for temporary data, hostPath for node-specific needs, NFS for shared storage across pods, and CSI for cloud-native persistent storage. Match volume type to your workload requirements.</a:t>
            </a:r>
          </a:p>
        </p:txBody>
      </p:sp>
      <p:sp>
        <p:nvSpPr>
          <p:cNvPr name="TextBox 12" id="12"/>
          <p:cNvSpPr txBox="true"/>
          <p:nvPr/>
        </p:nvSpPr>
        <p:spPr>
          <a:xfrm rot="0">
            <a:off x="2895628" y="5035952"/>
            <a:ext cx="10148400" cy="1592946"/>
          </a:xfrm>
          <a:prstGeom prst="rect">
            <a:avLst/>
          </a:prstGeom>
        </p:spPr>
        <p:txBody>
          <a:bodyPr anchor="t" rtlCol="false" tIns="0" lIns="0" bIns="0" rIns="0">
            <a:spAutoFit/>
          </a:bodyPr>
          <a:lstStyle/>
          <a:p>
            <a:pPr algn="l" marL="0" indent="0" lvl="0">
              <a:lnSpc>
                <a:spcPts val="3189"/>
              </a:lnSpc>
            </a:pPr>
            <a:r>
              <a:rPr lang="en-US" sz="2798">
                <a:solidFill>
                  <a:srgbClr val="FFFFFF"/>
                </a:solidFill>
                <a:latin typeface="Koho"/>
                <a:ea typeface="Koho"/>
                <a:cs typeface="Koho"/>
                <a:sym typeface="Koho"/>
              </a:rPr>
              <a:t>Use PVC for Portability: Always use PersistentVolumeClaims (PVC) with StorageClasses instead of directly referencing volumes. This ensures your applications remain portable across different Kubernetes clusters and cloud providers.</a:t>
            </a:r>
          </a:p>
        </p:txBody>
      </p:sp>
      <p:sp>
        <p:nvSpPr>
          <p:cNvPr name="TextBox 13" id="13"/>
          <p:cNvSpPr txBox="true"/>
          <p:nvPr/>
        </p:nvSpPr>
        <p:spPr>
          <a:xfrm rot="0">
            <a:off x="2895628" y="6990863"/>
            <a:ext cx="10148400" cy="1592946"/>
          </a:xfrm>
          <a:prstGeom prst="rect">
            <a:avLst/>
          </a:prstGeom>
        </p:spPr>
        <p:txBody>
          <a:bodyPr anchor="t" rtlCol="false" tIns="0" lIns="0" bIns="0" rIns="0">
            <a:spAutoFit/>
          </a:bodyPr>
          <a:lstStyle/>
          <a:p>
            <a:pPr algn="l" marL="0" indent="0" lvl="0">
              <a:lnSpc>
                <a:spcPts val="3189"/>
              </a:lnSpc>
            </a:pPr>
            <a:r>
              <a:rPr lang="en-US" sz="2798">
                <a:solidFill>
                  <a:srgbClr val="FFFFFF"/>
                </a:solidFill>
                <a:latin typeface="Koho"/>
                <a:ea typeface="Koho"/>
                <a:cs typeface="Koho"/>
                <a:sym typeface="Koho"/>
              </a:rPr>
              <a:t>Monitor with Prometheus &amp; Grafana: Implement comprehensive storage monitoring using Prometheus metrics and Grafana dashboards. Track volume capacity, IOPS, latency, and usage trends to prevent storage-related outages.</a:t>
            </a:r>
          </a:p>
        </p:txBody>
      </p:sp>
      <p:sp>
        <p:nvSpPr>
          <p:cNvPr name="Freeform 14" id="14"/>
          <p:cNvSpPr/>
          <p:nvPr/>
        </p:nvSpPr>
        <p:spPr>
          <a:xfrm flipH="false" flipV="false" rot="0">
            <a:off x="6125845" y="-4806690"/>
            <a:ext cx="13836366" cy="7245224"/>
          </a:xfrm>
          <a:custGeom>
            <a:avLst/>
            <a:gdLst/>
            <a:ahLst/>
            <a:cxnLst/>
            <a:rect r="r" b="b" t="t" l="l"/>
            <a:pathLst>
              <a:path h="7245224" w="13836366">
                <a:moveTo>
                  <a:pt x="0" y="0"/>
                </a:moveTo>
                <a:lnTo>
                  <a:pt x="13836366" y="0"/>
                </a:lnTo>
                <a:lnTo>
                  <a:pt x="13836366" y="7245224"/>
                </a:lnTo>
                <a:lnTo>
                  <a:pt x="0" y="7245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222833" y="3629195"/>
            <a:ext cx="9842334" cy="2086620"/>
          </a:xfrm>
          <a:prstGeom prst="rect">
            <a:avLst/>
          </a:prstGeom>
        </p:spPr>
        <p:txBody>
          <a:bodyPr anchor="t" rtlCol="false" tIns="0" lIns="0" bIns="0" rIns="0">
            <a:spAutoFit/>
          </a:bodyPr>
          <a:lstStyle/>
          <a:p>
            <a:pPr algn="ctr" marL="0" indent="0" lvl="0">
              <a:lnSpc>
                <a:spcPts val="14361"/>
              </a:lnSpc>
            </a:pPr>
            <a:r>
              <a:rPr lang="en-US" b="true" sz="12597">
                <a:solidFill>
                  <a:srgbClr val="005FC2"/>
                </a:solidFill>
                <a:latin typeface="Neo Tech Bold"/>
                <a:ea typeface="Neo Tech Bold"/>
                <a:cs typeface="Neo Tech Bold"/>
                <a:sym typeface="Neo Tech Bold"/>
              </a:rPr>
              <a:t>THANK YOU!</a:t>
            </a:r>
          </a:p>
        </p:txBody>
      </p:sp>
      <p:sp>
        <p:nvSpPr>
          <p:cNvPr name="Freeform 3" id="3"/>
          <p:cNvSpPr/>
          <p:nvPr/>
        </p:nvSpPr>
        <p:spPr>
          <a:xfrm flipH="true" flipV="false" rot="0">
            <a:off x="13499617" y="-3375063"/>
            <a:ext cx="7161170" cy="10230243"/>
          </a:xfrm>
          <a:custGeom>
            <a:avLst/>
            <a:gdLst/>
            <a:ahLst/>
            <a:cxnLst/>
            <a:rect r="r" b="b" t="t" l="l"/>
            <a:pathLst>
              <a:path h="10230243" w="7161170">
                <a:moveTo>
                  <a:pt x="7161170" y="0"/>
                </a:moveTo>
                <a:lnTo>
                  <a:pt x="0" y="0"/>
                </a:lnTo>
                <a:lnTo>
                  <a:pt x="0" y="10230242"/>
                </a:lnTo>
                <a:lnTo>
                  <a:pt x="7161170" y="10230242"/>
                </a:lnTo>
                <a:lnTo>
                  <a:pt x="716117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961309" y="5401099"/>
            <a:ext cx="8365383" cy="630547"/>
          </a:xfrm>
          <a:prstGeom prst="rect">
            <a:avLst/>
          </a:prstGeom>
        </p:spPr>
        <p:txBody>
          <a:bodyPr anchor="t" rtlCol="false" tIns="0" lIns="0" bIns="0" rIns="0">
            <a:spAutoFit/>
          </a:bodyPr>
          <a:lstStyle/>
          <a:p>
            <a:pPr algn="ctr" marL="0" indent="0" lvl="0">
              <a:lnSpc>
                <a:spcPts val="2510"/>
              </a:lnSpc>
            </a:pPr>
            <a:r>
              <a:rPr lang="en-US" b="true" sz="2202">
                <a:solidFill>
                  <a:srgbClr val="005FC2"/>
                </a:solidFill>
                <a:latin typeface="Koho Bold"/>
                <a:ea typeface="Koho Bold"/>
                <a:cs typeface="Koho Bold"/>
                <a:sym typeface="Koho Bold"/>
              </a:rPr>
              <a:t>Questions &amp; Answers</a:t>
            </a:r>
          </a:p>
          <a:p>
            <a:pPr algn="ctr" marL="0" indent="0" lvl="0">
              <a:lnSpc>
                <a:spcPts val="2510"/>
              </a:lnSpc>
            </a:pPr>
            <a:r>
              <a:rPr lang="en-US" b="true" sz="2202">
                <a:solidFill>
                  <a:srgbClr val="005FC2"/>
                </a:solidFill>
                <a:latin typeface="Koho Bold"/>
                <a:ea typeface="Koho Bold"/>
                <a:cs typeface="Koho Bold"/>
                <a:sym typeface="Koho Bold"/>
              </a:rPr>
              <a:t>Let's discuss your storage challenges</a:t>
            </a:r>
          </a:p>
        </p:txBody>
      </p:sp>
      <p:sp>
        <p:nvSpPr>
          <p:cNvPr name="Freeform 5" id="5"/>
          <p:cNvSpPr/>
          <p:nvPr/>
        </p:nvSpPr>
        <p:spPr>
          <a:xfrm flipH="false" flipV="true" rot="-151067">
            <a:off x="-1812924" y="4400378"/>
            <a:ext cx="7161170" cy="10230243"/>
          </a:xfrm>
          <a:custGeom>
            <a:avLst/>
            <a:gdLst/>
            <a:ahLst/>
            <a:cxnLst/>
            <a:rect r="r" b="b" t="t" l="l"/>
            <a:pathLst>
              <a:path h="10230243" w="7161170">
                <a:moveTo>
                  <a:pt x="0" y="10230242"/>
                </a:moveTo>
                <a:lnTo>
                  <a:pt x="7161170" y="10230242"/>
                </a:lnTo>
                <a:lnTo>
                  <a:pt x="7161170" y="0"/>
                </a:lnTo>
                <a:lnTo>
                  <a:pt x="0" y="0"/>
                </a:lnTo>
                <a:lnTo>
                  <a:pt x="0" y="1023024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25238" y="-1294162"/>
            <a:ext cx="7793442" cy="4080930"/>
          </a:xfrm>
          <a:custGeom>
            <a:avLst/>
            <a:gdLst/>
            <a:ahLst/>
            <a:cxnLst/>
            <a:rect r="r" b="b" t="t" l="l"/>
            <a:pathLst>
              <a:path h="4080930" w="7793442">
                <a:moveTo>
                  <a:pt x="0" y="0"/>
                </a:moveTo>
                <a:lnTo>
                  <a:pt x="7793442" y="0"/>
                </a:lnTo>
                <a:lnTo>
                  <a:pt x="7793442" y="4080930"/>
                </a:lnTo>
                <a:lnTo>
                  <a:pt x="0" y="4080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494558" y="7817332"/>
            <a:ext cx="7793442" cy="4080930"/>
          </a:xfrm>
          <a:custGeom>
            <a:avLst/>
            <a:gdLst/>
            <a:ahLst/>
            <a:cxnLst/>
            <a:rect r="r" b="b" t="t" l="l"/>
            <a:pathLst>
              <a:path h="4080930" w="7793442">
                <a:moveTo>
                  <a:pt x="0" y="0"/>
                </a:moveTo>
                <a:lnTo>
                  <a:pt x="7793442" y="0"/>
                </a:lnTo>
                <a:lnTo>
                  <a:pt x="7793442" y="4080930"/>
                </a:lnTo>
                <a:lnTo>
                  <a:pt x="0" y="4080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DAHJkqrfIAU</dc:identifier>
  <dcterms:modified xsi:type="dcterms:W3CDTF">2011-08-01T06:04:30Z</dcterms:modified>
  <cp:revision>1</cp:revision>
  <dc:title>Non Text Magic Studio Magic Design for Presentations L&amp;P</dc:title>
</cp:coreProperties>
</file>